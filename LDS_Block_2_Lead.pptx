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Inter"/>
      <p:regular r:id="rId32"/>
      <p:bold r:id="rId33"/>
      <p:italic r:id="rId34"/>
      <p:boldItalic r:id="rId35"/>
    </p:embeddedFont>
    <p:embeddedFont>
      <p:font typeface="Inter Medium"/>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hd3FoNuyLDj+ISqpuY7RQPhg5+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0ED2D16-8099-4D48-BD94-ACDFA394096C}">
  <a:tblStyle styleId="{F0ED2D16-8099-4D48-BD94-ACDFA394096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E6B49BF-D7DE-49C0-A12C-EF09482CAE8A}"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Inter-bold.fntdata"/><Relationship Id="rId10" Type="http://schemas.openxmlformats.org/officeDocument/2006/relationships/slide" Target="slides/slide5.xml"/><Relationship Id="rId32" Type="http://schemas.openxmlformats.org/officeDocument/2006/relationships/font" Target="fonts/Inter-regular.fntdata"/><Relationship Id="rId13" Type="http://schemas.openxmlformats.org/officeDocument/2006/relationships/slide" Target="slides/slide8.xml"/><Relationship Id="rId35" Type="http://schemas.openxmlformats.org/officeDocument/2006/relationships/font" Target="fonts/Inter-boldItalic.fntdata"/><Relationship Id="rId12" Type="http://schemas.openxmlformats.org/officeDocument/2006/relationships/slide" Target="slides/slide7.xml"/><Relationship Id="rId34" Type="http://schemas.openxmlformats.org/officeDocument/2006/relationships/font" Target="fonts/Inter-italic.fntdata"/><Relationship Id="rId15" Type="http://schemas.openxmlformats.org/officeDocument/2006/relationships/slide" Target="slides/slide10.xml"/><Relationship Id="rId37" Type="http://schemas.openxmlformats.org/officeDocument/2006/relationships/font" Target="fonts/InterMedium-bold.fntdata"/><Relationship Id="rId14" Type="http://schemas.openxmlformats.org/officeDocument/2006/relationships/slide" Target="slides/slide9.xml"/><Relationship Id="rId36" Type="http://schemas.openxmlformats.org/officeDocument/2006/relationships/font" Target="fonts/InterMedium-regular.fntdata"/><Relationship Id="rId17" Type="http://schemas.openxmlformats.org/officeDocument/2006/relationships/slide" Target="slides/slide12.xml"/><Relationship Id="rId39" Type="http://schemas.openxmlformats.org/officeDocument/2006/relationships/font" Target="fonts/InterMedium-boldItalic.fntdata"/><Relationship Id="rId16" Type="http://schemas.openxmlformats.org/officeDocument/2006/relationships/slide" Target="slides/slide11.xml"/><Relationship Id="rId38" Type="http://schemas.openxmlformats.org/officeDocument/2006/relationships/font" Target="fonts/InterMedium-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1eef7185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g3a1eef71857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9e33c6017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39e33c6017c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9e33c6017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9e33c6017c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1eef7185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a1eef71857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9e33c6017c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39e33c6017c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9e33c6017c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39e33c6017c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1eef7185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3a1eef71857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1eef7185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3a1eef71857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1eef7185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3a1eef71857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1fa3a751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3a1fa3a7511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1fa3a7511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3a1fa3a7511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1fa3a7511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3a1fa3a7511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1fa3a751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3a1fa3a7511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1fa3a751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3a1fa3a7511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1fa3a7511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3a1fa3a7511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1fa3a7511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3a1fa3a7511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1fa3a7511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3a1fa3a7511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1fa3a7511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3a1fa3a7511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1fa3a7511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3a1fa3a7511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1fa3a7511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a1fa3a7511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1fa3a7511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g3a1fa3a7511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1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dbdiagrams.net" TargetMode="External"/><Relationship Id="rId4" Type="http://schemas.openxmlformats.org/officeDocument/2006/relationships/hyperlink" Target="http://dbdiagrams.net" TargetMode="External"/><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DAD2"/>
        </a:solidFill>
      </p:bgPr>
    </p:bg>
    <p:spTree>
      <p:nvGrpSpPr>
        <p:cNvPr id="53" name="Shape 53"/>
        <p:cNvGrpSpPr/>
        <p:nvPr/>
      </p:nvGrpSpPr>
      <p:grpSpPr>
        <a:xfrm>
          <a:off x="0" y="0"/>
          <a:ext cx="0" cy="0"/>
          <a:chOff x="0" y="0"/>
          <a:chExt cx="0" cy="0"/>
        </a:xfrm>
      </p:grpSpPr>
      <p:sp>
        <p:nvSpPr>
          <p:cNvPr id="54" name="Google Shape;54;p1"/>
          <p:cNvSpPr txBox="1"/>
          <p:nvPr>
            <p:ph type="ctrTitle"/>
          </p:nvPr>
        </p:nvSpPr>
        <p:spPr>
          <a:xfrm>
            <a:off x="107800" y="1710025"/>
            <a:ext cx="8928300" cy="61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fr" sz="3700">
                <a:solidFill>
                  <a:srgbClr val="0E3449"/>
                </a:solidFill>
              </a:rPr>
              <a:t>Stripe Business Case</a:t>
            </a:r>
            <a:r>
              <a:rPr lang="fr" sz="3700">
                <a:solidFill>
                  <a:srgbClr val="0E3449"/>
                </a:solidFill>
              </a:rPr>
              <a:t> (AIA block 2)</a:t>
            </a:r>
            <a:endParaRPr sz="3700">
              <a:solidFill>
                <a:srgbClr val="0E3449"/>
              </a:solidFill>
            </a:endParaRPr>
          </a:p>
        </p:txBody>
      </p:sp>
      <p:pic>
        <p:nvPicPr>
          <p:cNvPr id="55" name="Google Shape;55;p1"/>
          <p:cNvPicPr preferRelativeResize="0"/>
          <p:nvPr/>
        </p:nvPicPr>
        <p:blipFill rotWithShape="1">
          <a:blip r:embed="rId3">
            <a:alphaModFix/>
          </a:blip>
          <a:srcRect b="0" l="0" r="0" t="0"/>
          <a:stretch/>
        </p:blipFill>
        <p:spPr>
          <a:xfrm>
            <a:off x="4685550" y="2595750"/>
            <a:ext cx="3818450" cy="2547749"/>
          </a:xfrm>
          <a:prstGeom prst="rect">
            <a:avLst/>
          </a:prstGeom>
          <a:noFill/>
          <a:ln>
            <a:noFill/>
          </a:ln>
        </p:spPr>
      </p:pic>
      <p:pic>
        <p:nvPicPr>
          <p:cNvPr id="56" name="Google Shape;56;p1"/>
          <p:cNvPicPr preferRelativeResize="0"/>
          <p:nvPr/>
        </p:nvPicPr>
        <p:blipFill rotWithShape="1">
          <a:blip r:embed="rId4">
            <a:alphaModFix/>
          </a:blip>
          <a:srcRect b="0" l="0" r="0" t="0"/>
          <a:stretch/>
        </p:blipFill>
        <p:spPr>
          <a:xfrm>
            <a:off x="840550" y="787375"/>
            <a:ext cx="973275" cy="651050"/>
          </a:xfrm>
          <a:prstGeom prst="rect">
            <a:avLst/>
          </a:prstGeom>
          <a:noFill/>
          <a:ln>
            <a:noFill/>
          </a:ln>
        </p:spPr>
      </p:pic>
      <p:sp>
        <p:nvSpPr>
          <p:cNvPr id="57" name="Google Shape;57;p1"/>
          <p:cNvSpPr txBox="1"/>
          <p:nvPr>
            <p:ph type="ctrTitle"/>
          </p:nvPr>
        </p:nvSpPr>
        <p:spPr>
          <a:xfrm>
            <a:off x="0" y="3643262"/>
            <a:ext cx="5315100" cy="1252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5200"/>
              <a:buFont typeface="Arial"/>
              <a:buNone/>
            </a:pPr>
            <a:r>
              <a:rPr lang="fr" sz="700"/>
              <a:t>Aurélien Chalm</a:t>
            </a:r>
            <a:endParaRPr sz="700"/>
          </a:p>
          <a:p>
            <a:pPr indent="0" lvl="0" marL="0" rtl="0" algn="l">
              <a:lnSpc>
                <a:spcPct val="100000"/>
              </a:lnSpc>
              <a:spcBef>
                <a:spcPts val="0"/>
              </a:spcBef>
              <a:spcAft>
                <a:spcPts val="0"/>
              </a:spcAft>
              <a:buClr>
                <a:schemeClr val="dk1"/>
              </a:buClr>
              <a:buSzPts val="5200"/>
              <a:buFont typeface="Arial"/>
              <a:buNone/>
            </a:pPr>
            <a:r>
              <a:rPr lang="fr" sz="900"/>
              <a:t>GitHub : https://github.com/aurelienchalm/LDS_block_2_lead</a:t>
            </a:r>
            <a:endParaRPr sz="25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4FF"/>
        </a:solidFill>
      </p:bgPr>
    </p:bg>
    <p:spTree>
      <p:nvGrpSpPr>
        <p:cNvPr id="61" name="Shape 61"/>
        <p:cNvGrpSpPr/>
        <p:nvPr/>
      </p:nvGrpSpPr>
      <p:grpSpPr>
        <a:xfrm>
          <a:off x="0" y="0"/>
          <a:ext cx="0" cy="0"/>
          <a:chOff x="0" y="0"/>
          <a:chExt cx="0" cy="0"/>
        </a:xfrm>
      </p:grpSpPr>
      <p:sp>
        <p:nvSpPr>
          <p:cNvPr id="62" name="Google Shape;62;p2"/>
          <p:cNvSpPr txBox="1"/>
          <p:nvPr>
            <p:ph idx="4294967295" type="ctrTitle"/>
          </p:nvPr>
        </p:nvSpPr>
        <p:spPr>
          <a:xfrm>
            <a:off x="145925" y="1666825"/>
            <a:ext cx="8521500" cy="1398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fr" sz="2400"/>
              <a:t>Comprehensive Data Architecture</a:t>
            </a:r>
            <a:endParaRPr b="1" sz="2400"/>
          </a:p>
          <a:p>
            <a:pPr indent="0" lvl="0" marL="0" marR="0" rtl="0" algn="l">
              <a:lnSpc>
                <a:spcPct val="150000"/>
              </a:lnSpc>
              <a:spcBef>
                <a:spcPts val="400"/>
              </a:spcBef>
              <a:spcAft>
                <a:spcPts val="0"/>
              </a:spcAft>
              <a:buClr>
                <a:schemeClr val="dk1"/>
              </a:buClr>
              <a:buSzPts val="1100"/>
              <a:buFont typeface="Arial"/>
              <a:buNone/>
            </a:pPr>
            <a:r>
              <a:t/>
            </a:r>
            <a:endParaRPr b="1" sz="2400"/>
          </a:p>
          <a:p>
            <a:pPr indent="0" lvl="0" marL="0" marR="0" rtl="0" algn="l">
              <a:lnSpc>
                <a:spcPct val="100000"/>
              </a:lnSpc>
              <a:spcBef>
                <a:spcPts val="600"/>
              </a:spcBef>
              <a:spcAft>
                <a:spcPts val="0"/>
              </a:spcAft>
              <a:buClr>
                <a:schemeClr val="dk1"/>
              </a:buClr>
              <a:buSzPts val="2800"/>
              <a:buFont typeface="Arial"/>
              <a:buNone/>
            </a:pPr>
            <a:r>
              <a:t/>
            </a:r>
            <a:endParaRPr b="1" i="0" sz="4500" u="none" cap="none" strike="noStrike">
              <a:solidFill>
                <a:srgbClr val="0E3449"/>
              </a:solidFill>
              <a:latin typeface="Inter"/>
              <a:ea typeface="Inter"/>
              <a:cs typeface="Inter"/>
              <a:sym typeface="Inter"/>
            </a:endParaRPr>
          </a:p>
        </p:txBody>
      </p:sp>
      <p:pic>
        <p:nvPicPr>
          <p:cNvPr id="63" name="Google Shape;63;p2"/>
          <p:cNvPicPr preferRelativeResize="0"/>
          <p:nvPr/>
        </p:nvPicPr>
        <p:blipFill rotWithShape="1">
          <a:blip r:embed="rId3">
            <a:alphaModFix/>
          </a:blip>
          <a:srcRect b="0" l="0" r="0" t="0"/>
          <a:stretch/>
        </p:blipFill>
        <p:spPr>
          <a:xfrm>
            <a:off x="463375" y="482852"/>
            <a:ext cx="576900" cy="38590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txBox="1"/>
          <p:nvPr>
            <p:ph idx="4294967295" type="ctrTitle"/>
          </p:nvPr>
        </p:nvSpPr>
        <p:spPr>
          <a:xfrm>
            <a:off x="1192678" y="0"/>
            <a:ext cx="6846600" cy="5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fr" sz="1800"/>
              <a:t>Comprehensive Data Architecture – Schéma</a:t>
            </a:r>
            <a:endParaRPr b="1" sz="1800"/>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40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pic>
        <p:nvPicPr>
          <p:cNvPr id="69" name="Google Shape;69;p3"/>
          <p:cNvPicPr preferRelativeResize="0"/>
          <p:nvPr/>
        </p:nvPicPr>
        <p:blipFill rotWithShape="1">
          <a:blip r:embed="rId3">
            <a:alphaModFix/>
          </a:blip>
          <a:srcRect b="0" l="0" r="0" t="0"/>
          <a:stretch/>
        </p:blipFill>
        <p:spPr>
          <a:xfrm>
            <a:off x="0" y="2"/>
            <a:ext cx="576900" cy="385904"/>
          </a:xfrm>
          <a:prstGeom prst="rect">
            <a:avLst/>
          </a:prstGeom>
          <a:noFill/>
          <a:ln>
            <a:noFill/>
          </a:ln>
        </p:spPr>
      </p:pic>
      <p:pic>
        <p:nvPicPr>
          <p:cNvPr id="70" name="Google Shape;70;p3"/>
          <p:cNvPicPr preferRelativeResize="0"/>
          <p:nvPr/>
        </p:nvPicPr>
        <p:blipFill>
          <a:blip r:embed="rId4">
            <a:alphaModFix/>
          </a:blip>
          <a:stretch>
            <a:fillRect/>
          </a:stretch>
        </p:blipFill>
        <p:spPr>
          <a:xfrm>
            <a:off x="1509400" y="385900"/>
            <a:ext cx="5046823" cy="4757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g3a1eef71857_0_6"/>
          <p:cNvSpPr txBox="1"/>
          <p:nvPr>
            <p:ph idx="4294967295" type="ctrTitle"/>
          </p:nvPr>
        </p:nvSpPr>
        <p:spPr>
          <a:xfrm>
            <a:off x="1192678" y="0"/>
            <a:ext cx="6846600" cy="5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fr" sz="1800"/>
              <a:t>Comprehensive Data Architecture – Vue d’ensemble</a:t>
            </a:r>
            <a:endParaRPr b="1" sz="1800"/>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40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sp>
        <p:nvSpPr>
          <p:cNvPr id="76" name="Google Shape;76;g3a1eef71857_0_6"/>
          <p:cNvSpPr txBox="1"/>
          <p:nvPr>
            <p:ph idx="4294967295" type="ctrTitle"/>
          </p:nvPr>
        </p:nvSpPr>
        <p:spPr>
          <a:xfrm>
            <a:off x="0" y="385900"/>
            <a:ext cx="9144000" cy="475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200"/>
              </a:spcBef>
              <a:spcAft>
                <a:spcPts val="0"/>
              </a:spcAft>
              <a:buNone/>
            </a:pPr>
            <a:r>
              <a:rPr b="1" lang="fr" sz="1300"/>
              <a:t>Architecture ELT intégrée</a:t>
            </a:r>
            <a:endParaRPr b="1" sz="1300"/>
          </a:p>
          <a:p>
            <a:pPr indent="0" lvl="0" marL="457200" marR="0" rtl="0" algn="l">
              <a:lnSpc>
                <a:spcPct val="100000"/>
              </a:lnSpc>
              <a:spcBef>
                <a:spcPts val="1200"/>
              </a:spcBef>
              <a:spcAft>
                <a:spcPts val="0"/>
              </a:spcAft>
              <a:buNone/>
            </a:pPr>
            <a:r>
              <a:rPr b="1" lang="fr" sz="1100"/>
              <a:t>OLTP (PostgreSQL – RDS) : données transactionnelles extraites par Airbyte (Batch / CDC) et chargées dans Snowflake (RAW).</a:t>
            </a:r>
            <a:br>
              <a:rPr lang="fr" sz="1100"/>
            </a:br>
            <a:r>
              <a:rPr b="1" lang="fr" sz="1100"/>
              <a:t>NoSQL (MongoDB Atlas)</a:t>
            </a:r>
            <a:r>
              <a:rPr lang="fr" sz="1100"/>
              <a:t> : données comportementales (</a:t>
            </a:r>
            <a:r>
              <a:rPr i="1" lang="fr" sz="1100"/>
              <a:t>user_sessions</a:t>
            </a:r>
            <a:r>
              <a:rPr lang="fr" sz="1100"/>
              <a:t>, </a:t>
            </a:r>
            <a:r>
              <a:rPr i="1" lang="fr" sz="1100"/>
              <a:t>api_logs</a:t>
            </a:r>
            <a:r>
              <a:rPr lang="fr" sz="1100"/>
              <a:t>, </a:t>
            </a:r>
            <a:r>
              <a:rPr i="1" lang="fr" sz="1100"/>
              <a:t>feedback</a:t>
            </a:r>
            <a:r>
              <a:rPr lang="fr" sz="1100"/>
              <a:t>, </a:t>
            </a:r>
            <a:r>
              <a:rPr i="1" lang="fr" sz="1100"/>
              <a:t>ml_features</a:t>
            </a:r>
            <a:r>
              <a:rPr lang="fr" sz="1100"/>
              <a:t>) intégrées via Airbyte ou Kafka.</a:t>
            </a:r>
            <a:br>
              <a:rPr lang="fr" sz="1100"/>
            </a:br>
            <a:r>
              <a:rPr b="1" lang="fr" sz="1100"/>
              <a:t>Transformations analytiques</a:t>
            </a:r>
            <a:r>
              <a:rPr lang="fr" sz="1100"/>
              <a:t> : réalisées dans </a:t>
            </a:r>
            <a:r>
              <a:rPr b="1" lang="fr" sz="1100"/>
              <a:t>dbt</a:t>
            </a:r>
            <a:r>
              <a:rPr lang="fr" sz="1100"/>
              <a:t> (zones </a:t>
            </a:r>
            <a:r>
              <a:rPr i="1" lang="fr" sz="1100"/>
              <a:t>STAGING</a:t>
            </a:r>
            <a:r>
              <a:rPr lang="fr" sz="1100"/>
              <a:t>, </a:t>
            </a:r>
            <a:r>
              <a:rPr i="1" lang="fr" sz="1100"/>
              <a:t>CORE</a:t>
            </a:r>
            <a:r>
              <a:rPr lang="fr" sz="1100"/>
              <a:t>, </a:t>
            </a:r>
            <a:r>
              <a:rPr i="1" lang="fr" sz="1100"/>
              <a:t>MART</a:t>
            </a:r>
            <a:r>
              <a:rPr lang="fr" sz="1100"/>
              <a:t>) pour modéliser faits &amp; dimensions.</a:t>
            </a:r>
            <a:br>
              <a:rPr lang="fr" sz="1100"/>
            </a:br>
            <a:r>
              <a:rPr b="1" lang="fr" sz="1100"/>
              <a:t>Orchestration</a:t>
            </a:r>
            <a:r>
              <a:rPr lang="fr" sz="1100"/>
              <a:t> : assurée par </a:t>
            </a:r>
            <a:r>
              <a:rPr b="1" lang="fr" sz="1100"/>
              <a:t>Airflow</a:t>
            </a:r>
            <a:r>
              <a:rPr lang="fr" sz="1100"/>
              <a:t> (supervision, qualité, cohérence).</a:t>
            </a:r>
            <a:br>
              <a:rPr lang="fr" sz="1100"/>
            </a:br>
            <a:r>
              <a:rPr b="1" lang="fr" sz="1100"/>
              <a:t>Exploitation</a:t>
            </a:r>
            <a:r>
              <a:rPr lang="fr" sz="1100"/>
              <a:t> :</a:t>
            </a:r>
            <a:br>
              <a:rPr lang="fr" sz="1100"/>
            </a:br>
            <a:r>
              <a:rPr lang="fr" sz="1100"/>
              <a:t>	</a:t>
            </a:r>
            <a:r>
              <a:rPr b="1" lang="fr" sz="1100"/>
              <a:t>Tableau</a:t>
            </a:r>
            <a:r>
              <a:rPr lang="fr" sz="1100"/>
              <a:t> → visualisation BI,</a:t>
            </a:r>
            <a:br>
              <a:rPr lang="fr" sz="1100"/>
            </a:br>
            <a:r>
              <a:rPr lang="fr" sz="1100"/>
              <a:t>	</a:t>
            </a:r>
            <a:r>
              <a:rPr b="1" lang="fr" sz="1100"/>
              <a:t>EKS/Ray + MLflow + FastAPI</a:t>
            </a:r>
            <a:r>
              <a:rPr lang="fr" sz="1100"/>
              <a:t> → pipelines Machine Learning (fraude, personnalisation).</a:t>
            </a:r>
            <a:endParaRPr sz="1100"/>
          </a:p>
          <a:p>
            <a:pPr indent="0" lvl="0" marL="0" rtl="0" algn="l">
              <a:lnSpc>
                <a:spcPct val="100000"/>
              </a:lnSpc>
              <a:spcBef>
                <a:spcPts val="1200"/>
              </a:spcBef>
              <a:spcAft>
                <a:spcPts val="0"/>
              </a:spcAft>
              <a:buNone/>
            </a:pPr>
            <a:r>
              <a:rPr b="1" lang="fr" sz="1300"/>
              <a:t>Infrastructure &amp; Sécurité</a:t>
            </a:r>
            <a:endParaRPr b="1" sz="1300"/>
          </a:p>
          <a:p>
            <a:pPr indent="457200" lvl="0" marL="0" rtl="0" algn="l">
              <a:lnSpc>
                <a:spcPct val="100000"/>
              </a:lnSpc>
              <a:spcBef>
                <a:spcPts val="1200"/>
              </a:spcBef>
              <a:spcAft>
                <a:spcPts val="0"/>
              </a:spcAft>
              <a:buNone/>
            </a:pPr>
            <a:r>
              <a:rPr lang="fr" sz="1100"/>
              <a:t>Composants déployés dans un </a:t>
            </a:r>
            <a:r>
              <a:rPr b="1" lang="fr" sz="1100"/>
              <a:t>VPC privé AWS</a:t>
            </a:r>
            <a:r>
              <a:rPr lang="fr" sz="1100"/>
              <a:t> via services managés (</a:t>
            </a:r>
            <a:r>
              <a:rPr b="1" lang="fr" sz="1100"/>
              <a:t>RDS, EKS, EC2</a:t>
            </a:r>
            <a:r>
              <a:rPr lang="fr" sz="1100"/>
              <a:t>).</a:t>
            </a:r>
            <a:br>
              <a:rPr lang="fr" sz="1100"/>
            </a:br>
            <a:r>
              <a:rPr lang="fr" sz="1100"/>
              <a:t>	Services SaaS (</a:t>
            </a:r>
            <a:r>
              <a:rPr b="1" lang="fr" sz="1100"/>
              <a:t>Snowflake, MongoDB Atlas, Evidently</a:t>
            </a:r>
            <a:r>
              <a:rPr lang="fr" sz="1100"/>
              <a:t>) connectés via </a:t>
            </a:r>
            <a:r>
              <a:rPr b="1" lang="fr" sz="1100"/>
              <a:t>PrivateLink / IP allowlist</a:t>
            </a:r>
            <a:r>
              <a:rPr lang="fr" sz="1100"/>
              <a:t>.</a:t>
            </a:r>
            <a:br>
              <a:rPr lang="fr" sz="1100"/>
            </a:br>
            <a:r>
              <a:rPr lang="fr" sz="1100"/>
              <a:t>	Données </a:t>
            </a:r>
            <a:r>
              <a:rPr b="1" lang="fr" sz="1100"/>
              <a:t>chiffrées AES-256 / TLS 1.2+</a:t>
            </a:r>
            <a:r>
              <a:rPr lang="fr" sz="1100"/>
              <a:t>, contrôles </a:t>
            </a:r>
            <a:r>
              <a:rPr b="1" lang="fr" sz="1100"/>
              <a:t>RBAC</a:t>
            </a:r>
            <a:r>
              <a:rPr lang="fr" sz="1100"/>
              <a:t> et </a:t>
            </a:r>
            <a:r>
              <a:rPr b="1" lang="fr" sz="1100"/>
              <a:t>audit logs</a:t>
            </a:r>
            <a:r>
              <a:rPr lang="fr" sz="1100"/>
              <a:t> centralisés.</a:t>
            </a:r>
            <a:endParaRPr sz="1100"/>
          </a:p>
          <a:p>
            <a:pPr indent="457200" lvl="0" marL="0" rtl="0" algn="l">
              <a:lnSpc>
                <a:spcPct val="100000"/>
              </a:lnSpc>
              <a:spcBef>
                <a:spcPts val="1200"/>
              </a:spcBef>
              <a:spcAft>
                <a:spcPts val="0"/>
              </a:spcAft>
              <a:buNone/>
            </a:pPr>
            <a:br>
              <a:rPr lang="fr" sz="1100"/>
            </a:br>
            <a:r>
              <a:rPr b="1" lang="fr" sz="1300"/>
              <a:t>Conformité</a:t>
            </a:r>
            <a:endParaRPr b="1" sz="1300"/>
          </a:p>
          <a:p>
            <a:pPr indent="457200" lvl="0" marL="0" rtl="0" algn="l">
              <a:lnSpc>
                <a:spcPct val="115000"/>
              </a:lnSpc>
              <a:spcBef>
                <a:spcPts val="1200"/>
              </a:spcBef>
              <a:spcAft>
                <a:spcPts val="0"/>
              </a:spcAft>
              <a:buNone/>
            </a:pPr>
            <a:r>
              <a:rPr b="1" lang="fr" sz="1100"/>
              <a:t>RGPD / CCPA</a:t>
            </a:r>
            <a:r>
              <a:rPr lang="fr" sz="1100"/>
              <a:t> → protection, pseudonymisation, droit à l’oubli.</a:t>
            </a:r>
            <a:br>
              <a:rPr lang="fr" sz="1100"/>
            </a:br>
            <a:r>
              <a:rPr lang="fr" sz="1100"/>
              <a:t>	</a:t>
            </a:r>
            <a:r>
              <a:rPr b="1" lang="fr" sz="1100"/>
              <a:t>PCI-DSS</a:t>
            </a:r>
            <a:r>
              <a:rPr lang="fr" sz="1100"/>
              <a:t> → sécurité des paiements, segmentation réseau, supervision continue.</a:t>
            </a:r>
            <a:br>
              <a:rPr lang="fr" sz="1100"/>
            </a:br>
            <a:endParaRPr sz="1100"/>
          </a:p>
          <a:p>
            <a:pPr indent="0" lvl="0" marL="0" rtl="0" algn="l">
              <a:lnSpc>
                <a:spcPct val="115000"/>
              </a:lnSpc>
              <a:spcBef>
                <a:spcPts val="1800"/>
              </a:spcBef>
              <a:spcAft>
                <a:spcPts val="0"/>
              </a:spcAft>
              <a:buClr>
                <a:schemeClr val="dk1"/>
              </a:buClr>
              <a:buSzPts val="1100"/>
              <a:buFont typeface="Arial"/>
              <a:buNone/>
            </a:pPr>
            <a:r>
              <a:t/>
            </a:r>
            <a:endParaRPr b="1" sz="1700"/>
          </a:p>
          <a:p>
            <a:pPr indent="0" lvl="0" marL="0" marR="0" rtl="0" algn="l">
              <a:lnSpc>
                <a:spcPct val="115000"/>
              </a:lnSpc>
              <a:spcBef>
                <a:spcPts val="1200"/>
              </a:spcBef>
              <a:spcAft>
                <a:spcPts val="0"/>
              </a:spcAft>
              <a:buClr>
                <a:schemeClr val="dk1"/>
              </a:buClr>
              <a:buSzPts val="2800"/>
              <a:buFont typeface="Arial"/>
              <a:buNone/>
            </a:pPr>
            <a:r>
              <a:t/>
            </a:r>
            <a:endParaRPr sz="1100">
              <a:solidFill>
                <a:srgbClr val="4B5258"/>
              </a:solidFill>
              <a:latin typeface="Inter Medium"/>
              <a:ea typeface="Inter Medium"/>
              <a:cs typeface="Inter Medium"/>
              <a:sym typeface="Inter Medium"/>
            </a:endParaRPr>
          </a:p>
          <a:p>
            <a:pPr indent="0" lvl="0" marL="0" marR="0" rtl="0" algn="l">
              <a:lnSpc>
                <a:spcPct val="100000"/>
              </a:lnSpc>
              <a:spcBef>
                <a:spcPts val="1200"/>
              </a:spcBef>
              <a:spcAft>
                <a:spcPts val="0"/>
              </a:spcAft>
              <a:buClr>
                <a:schemeClr val="dk1"/>
              </a:buClr>
              <a:buSzPts val="1100"/>
              <a:buFont typeface="Arial"/>
              <a:buNone/>
            </a:pPr>
            <a:r>
              <a:t/>
            </a:r>
            <a:endParaRPr b="0" i="0" sz="2000" u="none" cap="none" strike="noStrike">
              <a:solidFill>
                <a:srgbClr val="4B5258"/>
              </a:solidFill>
              <a:latin typeface="Inter Medium"/>
              <a:ea typeface="Inter Medium"/>
              <a:cs typeface="Inter Medium"/>
              <a:sym typeface="Inter Medium"/>
            </a:endParaRPr>
          </a:p>
        </p:txBody>
      </p:sp>
      <p:pic>
        <p:nvPicPr>
          <p:cNvPr id="77" name="Google Shape;77;g3a1eef71857_0_6"/>
          <p:cNvPicPr preferRelativeResize="0"/>
          <p:nvPr/>
        </p:nvPicPr>
        <p:blipFill rotWithShape="1">
          <a:blip r:embed="rId3">
            <a:alphaModFix/>
          </a:blip>
          <a:srcRect b="0" l="0" r="0" t="0"/>
          <a:stretch/>
        </p:blipFill>
        <p:spPr>
          <a:xfrm>
            <a:off x="0" y="2"/>
            <a:ext cx="576900" cy="38590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4FF"/>
        </a:solidFill>
      </p:bgPr>
    </p:bg>
    <p:spTree>
      <p:nvGrpSpPr>
        <p:cNvPr id="81" name="Shape 81"/>
        <p:cNvGrpSpPr/>
        <p:nvPr/>
      </p:nvGrpSpPr>
      <p:grpSpPr>
        <a:xfrm>
          <a:off x="0" y="0"/>
          <a:ext cx="0" cy="0"/>
          <a:chOff x="0" y="0"/>
          <a:chExt cx="0" cy="0"/>
        </a:xfrm>
      </p:grpSpPr>
      <p:sp>
        <p:nvSpPr>
          <p:cNvPr id="82" name="Google Shape;82;g39e33c6017c_0_38"/>
          <p:cNvSpPr txBox="1"/>
          <p:nvPr>
            <p:ph idx="4294967295" type="ctrTitle"/>
          </p:nvPr>
        </p:nvSpPr>
        <p:spPr>
          <a:xfrm>
            <a:off x="1040275" y="1666825"/>
            <a:ext cx="7115700" cy="139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200"/>
              </a:spcBef>
              <a:spcAft>
                <a:spcPts val="0"/>
              </a:spcAft>
              <a:buClr>
                <a:schemeClr val="dk1"/>
              </a:buClr>
              <a:buSzPts val="2800"/>
              <a:buFont typeface="Arial"/>
              <a:buNone/>
            </a:pPr>
            <a:r>
              <a:rPr b="1" lang="fr" sz="2400"/>
              <a:t>ERD for OLTP System</a:t>
            </a:r>
            <a:endParaRPr b="1" i="0" sz="4500" u="none" cap="none" strike="noStrike">
              <a:solidFill>
                <a:srgbClr val="0E3449"/>
              </a:solidFill>
              <a:latin typeface="Inter"/>
              <a:ea typeface="Inter"/>
              <a:cs typeface="Inter"/>
              <a:sym typeface="Inter"/>
            </a:endParaRPr>
          </a:p>
        </p:txBody>
      </p:sp>
      <p:pic>
        <p:nvPicPr>
          <p:cNvPr id="83" name="Google Shape;83;g39e33c6017c_0_38"/>
          <p:cNvPicPr preferRelativeResize="0"/>
          <p:nvPr/>
        </p:nvPicPr>
        <p:blipFill rotWithShape="1">
          <a:blip r:embed="rId3">
            <a:alphaModFix/>
          </a:blip>
          <a:srcRect b="0" l="0" r="0" t="0"/>
          <a:stretch/>
        </p:blipFill>
        <p:spPr>
          <a:xfrm>
            <a:off x="463375" y="482852"/>
            <a:ext cx="576900" cy="38590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9e33c6017c_0_43"/>
          <p:cNvSpPr txBox="1"/>
          <p:nvPr>
            <p:ph idx="4294967295" type="ctrTitle"/>
          </p:nvPr>
        </p:nvSpPr>
        <p:spPr>
          <a:xfrm>
            <a:off x="1192678" y="0"/>
            <a:ext cx="6846600" cy="5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fr" sz="1700"/>
              <a:t>ERD – OLTP System (PostgreSQL)</a:t>
            </a:r>
            <a:endParaRPr b="1" sz="1700"/>
          </a:p>
          <a:p>
            <a:pPr indent="0" lvl="0" marL="0" marR="0" rtl="0" algn="l">
              <a:lnSpc>
                <a:spcPct val="115000"/>
              </a:lnSpc>
              <a:spcBef>
                <a:spcPts val="1200"/>
              </a:spcBef>
              <a:spcAft>
                <a:spcPts val="0"/>
              </a:spcAft>
              <a:buClr>
                <a:schemeClr val="dk1"/>
              </a:buClr>
              <a:buSzPts val="2800"/>
              <a:buFont typeface="Arial"/>
              <a:buNone/>
            </a:pPr>
            <a:r>
              <a:t/>
            </a:r>
            <a:endParaRPr b="1" sz="1800"/>
          </a:p>
          <a:p>
            <a:pPr indent="0" lvl="0" marL="0" marR="0" rtl="0" algn="l">
              <a:lnSpc>
                <a:spcPct val="115000"/>
              </a:lnSpc>
              <a:spcBef>
                <a:spcPts val="1400"/>
              </a:spcBef>
              <a:spcAft>
                <a:spcPts val="0"/>
              </a:spcAft>
              <a:buClr>
                <a:schemeClr val="dk1"/>
              </a:buClr>
              <a:buSzPts val="2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40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pic>
        <p:nvPicPr>
          <p:cNvPr id="89" name="Google Shape;89;g39e33c6017c_0_43"/>
          <p:cNvPicPr preferRelativeResize="0"/>
          <p:nvPr/>
        </p:nvPicPr>
        <p:blipFill rotWithShape="1">
          <a:blip r:embed="rId3">
            <a:alphaModFix/>
          </a:blip>
          <a:srcRect b="0" l="0" r="0" t="0"/>
          <a:stretch/>
        </p:blipFill>
        <p:spPr>
          <a:xfrm>
            <a:off x="0" y="2"/>
            <a:ext cx="576900" cy="385904"/>
          </a:xfrm>
          <a:prstGeom prst="rect">
            <a:avLst/>
          </a:prstGeom>
          <a:noFill/>
          <a:ln>
            <a:noFill/>
          </a:ln>
        </p:spPr>
      </p:pic>
      <p:pic>
        <p:nvPicPr>
          <p:cNvPr id="90" name="Google Shape;90;g39e33c6017c_0_43"/>
          <p:cNvPicPr preferRelativeResize="0"/>
          <p:nvPr/>
        </p:nvPicPr>
        <p:blipFill>
          <a:blip r:embed="rId4">
            <a:alphaModFix/>
          </a:blip>
          <a:stretch>
            <a:fillRect/>
          </a:stretch>
        </p:blipFill>
        <p:spPr>
          <a:xfrm>
            <a:off x="1005350" y="385900"/>
            <a:ext cx="7033925" cy="47576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a1eef71857_0_21"/>
          <p:cNvSpPr txBox="1"/>
          <p:nvPr>
            <p:ph idx="4294967295" type="ctrTitle"/>
          </p:nvPr>
        </p:nvSpPr>
        <p:spPr>
          <a:xfrm>
            <a:off x="1192678" y="0"/>
            <a:ext cx="6846600" cy="5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fr" sz="1700"/>
              <a:t>ERD – OLTP System (PostgreSQL)</a:t>
            </a:r>
            <a:endParaRPr b="1" sz="1700"/>
          </a:p>
          <a:p>
            <a:pPr indent="0" lvl="0" marL="0" marR="0" rtl="0" algn="l">
              <a:lnSpc>
                <a:spcPct val="115000"/>
              </a:lnSpc>
              <a:spcBef>
                <a:spcPts val="1200"/>
              </a:spcBef>
              <a:spcAft>
                <a:spcPts val="0"/>
              </a:spcAft>
              <a:buClr>
                <a:schemeClr val="dk1"/>
              </a:buClr>
              <a:buSzPts val="2800"/>
              <a:buFont typeface="Arial"/>
              <a:buNone/>
            </a:pPr>
            <a:r>
              <a:t/>
            </a:r>
            <a:endParaRPr b="1" sz="1800"/>
          </a:p>
          <a:p>
            <a:pPr indent="0" lvl="0" marL="0" marR="0" rtl="0" algn="l">
              <a:lnSpc>
                <a:spcPct val="115000"/>
              </a:lnSpc>
              <a:spcBef>
                <a:spcPts val="1400"/>
              </a:spcBef>
              <a:spcAft>
                <a:spcPts val="0"/>
              </a:spcAft>
              <a:buClr>
                <a:schemeClr val="dk1"/>
              </a:buClr>
              <a:buSzPts val="2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40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sp>
        <p:nvSpPr>
          <p:cNvPr id="96" name="Google Shape;96;g3a1eef71857_0_21"/>
          <p:cNvSpPr txBox="1"/>
          <p:nvPr>
            <p:ph idx="4294967295" type="ctrTitle"/>
          </p:nvPr>
        </p:nvSpPr>
        <p:spPr>
          <a:xfrm>
            <a:off x="0" y="385900"/>
            <a:ext cx="9144000" cy="475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fr" sz="1100"/>
              <a:t>Objectif :</a:t>
            </a:r>
            <a:r>
              <a:rPr lang="fr" sz="1100"/>
              <a:t> Modèle relationnel normalisé (3NF) gérant les transactions, les clients, les marchands et les événements API.</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457200" marR="0" rtl="0" algn="l">
              <a:lnSpc>
                <a:spcPct val="115000"/>
              </a:lnSpc>
              <a:spcBef>
                <a:spcPts val="1200"/>
              </a:spcBef>
              <a:spcAft>
                <a:spcPts val="0"/>
              </a:spcAft>
              <a:buClr>
                <a:schemeClr val="dk1"/>
              </a:buClr>
              <a:buSzPts val="2800"/>
              <a:buFont typeface="Arial"/>
              <a:buNone/>
            </a:pPr>
            <a:r>
              <a:t/>
            </a:r>
            <a:endParaRPr sz="1100"/>
          </a:p>
          <a:p>
            <a:pPr indent="0" lvl="0" marL="0" marR="0" rtl="0" algn="l">
              <a:lnSpc>
                <a:spcPct val="115000"/>
              </a:lnSpc>
              <a:spcBef>
                <a:spcPts val="1200"/>
              </a:spcBef>
              <a:spcAft>
                <a:spcPts val="0"/>
              </a:spcAft>
              <a:buClr>
                <a:schemeClr val="dk1"/>
              </a:buClr>
              <a:buSzPts val="28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r>
              <a:t/>
            </a: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000"/>
          </a:p>
          <a:p>
            <a:pPr indent="0" lvl="0" marL="0" rtl="0" algn="l">
              <a:lnSpc>
                <a:spcPct val="115000"/>
              </a:lnSpc>
              <a:spcBef>
                <a:spcPts val="0"/>
              </a:spcBef>
              <a:spcAft>
                <a:spcPts val="0"/>
              </a:spcAft>
              <a:buClr>
                <a:schemeClr val="dk1"/>
              </a:buClr>
              <a:buSzPts val="1100"/>
              <a:buFont typeface="Arial"/>
              <a:buNone/>
            </a:pPr>
            <a:r>
              <a:rPr lang="fr" sz="1000"/>
              <a:t>A noter les relations sont les </a:t>
            </a:r>
            <a:r>
              <a:rPr b="1" lang="fr" sz="1000"/>
              <a:t>“Crow’s Foot”</a:t>
            </a:r>
            <a:r>
              <a:rPr lang="fr" sz="1000"/>
              <a:t> dans</a:t>
            </a:r>
            <a:r>
              <a:rPr lang="fr" sz="1000">
                <a:uFill>
                  <a:noFill/>
                </a:uFill>
                <a:hlinkClick r:id="rId3"/>
              </a:rPr>
              <a:t> </a:t>
            </a:r>
            <a:r>
              <a:rPr lang="fr" sz="1000" u="sng">
                <a:solidFill>
                  <a:schemeClr val="hlink"/>
                </a:solidFill>
                <a:hlinkClick r:id="rId4"/>
              </a:rPr>
              <a:t>dbdiagrams.net</a:t>
            </a:r>
            <a:r>
              <a:rPr lang="fr" sz="1000"/>
              <a:t> </a:t>
            </a:r>
            <a:endParaRPr sz="1000"/>
          </a:p>
          <a:p>
            <a:pPr indent="0" lvl="0" marL="0" marR="0" rtl="0" algn="l">
              <a:lnSpc>
                <a:spcPct val="100000"/>
              </a:lnSpc>
              <a:spcBef>
                <a:spcPts val="1200"/>
              </a:spcBef>
              <a:spcAft>
                <a:spcPts val="0"/>
              </a:spcAft>
              <a:buClr>
                <a:schemeClr val="dk1"/>
              </a:buClr>
              <a:buSzPts val="1100"/>
              <a:buFont typeface="Arial"/>
              <a:buNone/>
            </a:pPr>
            <a:r>
              <a:t/>
            </a:r>
            <a:endParaRPr sz="2000">
              <a:solidFill>
                <a:srgbClr val="4B5258"/>
              </a:solidFill>
              <a:latin typeface="Inter Medium"/>
              <a:ea typeface="Inter Medium"/>
              <a:cs typeface="Inter Medium"/>
              <a:sym typeface="Inter Medium"/>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rgbClr val="4B5258"/>
              </a:solidFill>
              <a:latin typeface="Inter Medium"/>
              <a:ea typeface="Inter Medium"/>
              <a:cs typeface="Inter Medium"/>
              <a:sym typeface="Inter Medium"/>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rgbClr val="4B5258"/>
              </a:solidFill>
              <a:latin typeface="Inter Medium"/>
              <a:ea typeface="Inter Medium"/>
              <a:cs typeface="Inter Medium"/>
              <a:sym typeface="Inter Medium"/>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rgbClr val="4B5258"/>
              </a:solidFill>
              <a:latin typeface="Inter Medium"/>
              <a:ea typeface="Inter Medium"/>
              <a:cs typeface="Inter Medium"/>
              <a:sym typeface="Inter Medium"/>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rgbClr val="4B5258"/>
              </a:solidFill>
              <a:latin typeface="Inter Medium"/>
              <a:ea typeface="Inter Medium"/>
              <a:cs typeface="Inter Medium"/>
              <a:sym typeface="Inter Medium"/>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rgbClr val="4B5258"/>
              </a:solidFill>
              <a:latin typeface="Inter Medium"/>
              <a:ea typeface="Inter Medium"/>
              <a:cs typeface="Inter Medium"/>
              <a:sym typeface="Inter Medium"/>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rgbClr val="4B5258"/>
              </a:solidFill>
              <a:latin typeface="Inter Medium"/>
              <a:ea typeface="Inter Medium"/>
              <a:cs typeface="Inter Medium"/>
              <a:sym typeface="Inter Medium"/>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rgbClr val="4B5258"/>
              </a:solidFill>
              <a:latin typeface="Inter Medium"/>
              <a:ea typeface="Inter Medium"/>
              <a:cs typeface="Inter Medium"/>
              <a:sym typeface="Inter Medium"/>
            </a:endParaRPr>
          </a:p>
          <a:p>
            <a:pPr indent="0" lvl="0" marL="0" marR="0" rtl="0" algn="l">
              <a:lnSpc>
                <a:spcPct val="115000"/>
              </a:lnSpc>
              <a:spcBef>
                <a:spcPts val="1200"/>
              </a:spcBef>
              <a:spcAft>
                <a:spcPts val="0"/>
              </a:spcAft>
              <a:buClr>
                <a:schemeClr val="dk1"/>
              </a:buClr>
              <a:buSzPts val="2800"/>
              <a:buFont typeface="Arial"/>
              <a:buNone/>
            </a:pPr>
            <a:r>
              <a:t/>
            </a:r>
            <a:endParaRPr b="0" i="0" sz="1000" u="none" cap="none" strike="noStrike">
              <a:solidFill>
                <a:srgbClr val="4B5258"/>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r>
              <a:t/>
            </a:r>
            <a:endParaRPr b="1" i="0" sz="1000" u="none" cap="none" strike="noStrike">
              <a:solidFill>
                <a:srgbClr val="4B5258"/>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0" lang="fr" sz="1100" u="none" cap="none" strike="noStrike">
                <a:solidFill>
                  <a:srgbClr val="4B5258"/>
                </a:solidFill>
                <a:latin typeface="Inter Medium"/>
                <a:ea typeface="Inter Medium"/>
                <a:cs typeface="Inter Medium"/>
                <a:sym typeface="Inter Medium"/>
              </a:rPr>
            </a:br>
            <a:endParaRPr b="0" i="0" sz="1100" u="none" cap="none" strike="noStrike">
              <a:solidFill>
                <a:srgbClr val="4B5258"/>
              </a:solidFill>
              <a:latin typeface="Inter Medium"/>
              <a:ea typeface="Inter Medium"/>
              <a:cs typeface="Inter Medium"/>
              <a:sym typeface="Inter Medium"/>
            </a:endParaRPr>
          </a:p>
          <a:p>
            <a:pPr indent="0" lvl="0" marL="0" marR="0" rtl="0" algn="l">
              <a:lnSpc>
                <a:spcPct val="100000"/>
              </a:lnSpc>
              <a:spcBef>
                <a:spcPts val="1200"/>
              </a:spcBef>
              <a:spcAft>
                <a:spcPts val="0"/>
              </a:spcAft>
              <a:buClr>
                <a:schemeClr val="dk1"/>
              </a:buClr>
              <a:buSzPts val="1100"/>
              <a:buFont typeface="Arial"/>
              <a:buNone/>
            </a:pPr>
            <a:r>
              <a:t/>
            </a:r>
            <a:endParaRPr b="0" i="0" sz="2000" u="none" cap="none" strike="noStrike">
              <a:solidFill>
                <a:srgbClr val="4B5258"/>
              </a:solidFill>
              <a:latin typeface="Inter Medium"/>
              <a:ea typeface="Inter Medium"/>
              <a:cs typeface="Inter Medium"/>
              <a:sym typeface="Inter Medium"/>
            </a:endParaRPr>
          </a:p>
        </p:txBody>
      </p:sp>
      <p:pic>
        <p:nvPicPr>
          <p:cNvPr id="97" name="Google Shape;97;g3a1eef71857_0_21"/>
          <p:cNvPicPr preferRelativeResize="0"/>
          <p:nvPr/>
        </p:nvPicPr>
        <p:blipFill rotWithShape="1">
          <a:blip r:embed="rId5">
            <a:alphaModFix/>
          </a:blip>
          <a:srcRect b="0" l="0" r="0" t="0"/>
          <a:stretch/>
        </p:blipFill>
        <p:spPr>
          <a:xfrm>
            <a:off x="0" y="2"/>
            <a:ext cx="576900" cy="385904"/>
          </a:xfrm>
          <a:prstGeom prst="rect">
            <a:avLst/>
          </a:prstGeom>
          <a:noFill/>
          <a:ln>
            <a:noFill/>
          </a:ln>
        </p:spPr>
      </p:pic>
      <p:graphicFrame>
        <p:nvGraphicFramePr>
          <p:cNvPr id="98" name="Google Shape;98;g3a1eef71857_0_21"/>
          <p:cNvGraphicFramePr/>
          <p:nvPr/>
        </p:nvGraphicFramePr>
        <p:xfrm>
          <a:off x="115900" y="1049775"/>
          <a:ext cx="3000000" cy="3000000"/>
        </p:xfrm>
        <a:graphic>
          <a:graphicData uri="http://schemas.openxmlformats.org/drawingml/2006/table">
            <a:tbl>
              <a:tblPr>
                <a:noFill/>
                <a:tableStyleId>{F0ED2D16-8099-4D48-BD94-ACDFA394096C}</a:tableStyleId>
              </a:tblPr>
              <a:tblGrid>
                <a:gridCol w="1235625"/>
                <a:gridCol w="4725200"/>
              </a:tblGrid>
              <a:tr h="180975">
                <a:tc>
                  <a:txBody>
                    <a:bodyPr/>
                    <a:lstStyle/>
                    <a:p>
                      <a:pPr indent="0" lvl="0" marL="0" rtl="0" algn="ctr">
                        <a:lnSpc>
                          <a:spcPct val="115000"/>
                        </a:lnSpc>
                        <a:spcBef>
                          <a:spcPts val="0"/>
                        </a:spcBef>
                        <a:spcAft>
                          <a:spcPts val="0"/>
                        </a:spcAft>
                        <a:buNone/>
                      </a:pPr>
                      <a:r>
                        <a:rPr b="1" lang="fr" sz="1000"/>
                        <a:t>Table</a:t>
                      </a:r>
                      <a:endParaRPr b="1"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fr" sz="1000"/>
                        <a:t>Rôle résumé</a:t>
                      </a:r>
                      <a:endParaRPr b="1"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b="1" lang="fr" sz="1000"/>
                        <a:t>payment</a:t>
                      </a:r>
                      <a:endParaRPr b="1"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t>Gère chaque transaction financière (montant, devise, statut, score fraude).</a:t>
                      </a:r>
                      <a:endParaRPr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b="1" lang="fr" sz="1000"/>
                        <a:t>customer</a:t>
                      </a:r>
                      <a:endParaRPr b="1"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t>Centralise les informations clients (identité, pays, date d’inscription).</a:t>
                      </a:r>
                      <a:endParaRPr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b="1" lang="fr" sz="1000"/>
                        <a:t>merchant</a:t>
                      </a:r>
                      <a:endParaRPr b="1"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t>Contient les données des marchands (entreprise, secteur, pays, statut).</a:t>
                      </a:r>
                      <a:endParaRPr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b="1" lang="fr" sz="1000"/>
                        <a:t>payment_method</a:t>
                      </a:r>
                      <a:endParaRPr b="1"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t>Liste les moyens de paiement utilisés (carte, portefeuille, virement, crypto).</a:t>
                      </a:r>
                      <a:endParaRPr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b="1" lang="fr" sz="1000"/>
                        <a:t>refund</a:t>
                      </a:r>
                      <a:endParaRPr b="1"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t>Enregistre les remboursements liés à un paiement donné.</a:t>
                      </a:r>
                      <a:endParaRPr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b="1" lang="fr" sz="1000"/>
                        <a:t>chargeback</a:t>
                      </a:r>
                      <a:endParaRPr b="1"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t>Suit les litiges de paiement (open, won, lost) avec leur historique.</a:t>
                      </a:r>
                      <a:endParaRPr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b="1" lang="fr" sz="1000"/>
                        <a:t>subscription</a:t>
                      </a:r>
                      <a:endParaRPr b="1"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t>Modélise les paiements récurrents (abonnements mensuels/annuels).</a:t>
                      </a:r>
                      <a:endParaRPr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b="1" lang="fr" sz="1000"/>
                        <a:t>device</a:t>
                      </a:r>
                      <a:endParaRPr b="1"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t>Trace les appareils et contextes d’accès (IP, type, user agent).</a:t>
                      </a:r>
                      <a:endParaRPr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b="1" lang="fr" sz="1000"/>
                        <a:t>api_event</a:t>
                      </a:r>
                      <a:endParaRPr b="1"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t>Journalise les événements API liés aux paiements (initiés, échoués, remboursés).</a:t>
                      </a:r>
                      <a:endParaRPr sz="1000"/>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4FF"/>
        </a:solidFill>
      </p:bgPr>
    </p:bg>
    <p:spTree>
      <p:nvGrpSpPr>
        <p:cNvPr id="102" name="Shape 102"/>
        <p:cNvGrpSpPr/>
        <p:nvPr/>
      </p:nvGrpSpPr>
      <p:grpSpPr>
        <a:xfrm>
          <a:off x="0" y="0"/>
          <a:ext cx="0" cy="0"/>
          <a:chOff x="0" y="0"/>
          <a:chExt cx="0" cy="0"/>
        </a:xfrm>
      </p:grpSpPr>
      <p:sp>
        <p:nvSpPr>
          <p:cNvPr id="103" name="Google Shape;103;g39e33c6017c_0_92"/>
          <p:cNvSpPr txBox="1"/>
          <p:nvPr>
            <p:ph idx="4294967295" type="ctrTitle"/>
          </p:nvPr>
        </p:nvSpPr>
        <p:spPr>
          <a:xfrm>
            <a:off x="404075" y="1666825"/>
            <a:ext cx="8553000" cy="78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fr" sz="2400"/>
              <a:t>Schema Design for OLAP System</a:t>
            </a:r>
            <a:endParaRPr b="1" i="0" sz="5500" u="none" cap="none" strike="noStrike">
              <a:solidFill>
                <a:srgbClr val="0E3449"/>
              </a:solidFill>
              <a:latin typeface="Inter"/>
              <a:ea typeface="Inter"/>
              <a:cs typeface="Inter"/>
              <a:sym typeface="Inter"/>
            </a:endParaRPr>
          </a:p>
          <a:p>
            <a:pPr indent="0" lvl="0" marL="0" marR="0" rtl="0" algn="l">
              <a:lnSpc>
                <a:spcPct val="100000"/>
              </a:lnSpc>
              <a:spcBef>
                <a:spcPts val="600"/>
              </a:spcBef>
              <a:spcAft>
                <a:spcPts val="0"/>
              </a:spcAft>
              <a:buClr>
                <a:schemeClr val="dk1"/>
              </a:buClr>
              <a:buSzPts val="2800"/>
              <a:buFont typeface="Arial"/>
              <a:buNone/>
            </a:pPr>
            <a:r>
              <a:t/>
            </a:r>
            <a:endParaRPr b="1" i="0" sz="4500" u="none" cap="none" strike="noStrike">
              <a:solidFill>
                <a:srgbClr val="0E3449"/>
              </a:solidFill>
              <a:latin typeface="Inter"/>
              <a:ea typeface="Inter"/>
              <a:cs typeface="Inter"/>
              <a:sym typeface="Inter"/>
            </a:endParaRPr>
          </a:p>
        </p:txBody>
      </p:sp>
      <p:pic>
        <p:nvPicPr>
          <p:cNvPr id="104" name="Google Shape;104;g39e33c6017c_0_92"/>
          <p:cNvPicPr preferRelativeResize="0"/>
          <p:nvPr/>
        </p:nvPicPr>
        <p:blipFill rotWithShape="1">
          <a:blip r:embed="rId3">
            <a:alphaModFix/>
          </a:blip>
          <a:srcRect b="0" l="0" r="0" t="0"/>
          <a:stretch/>
        </p:blipFill>
        <p:spPr>
          <a:xfrm>
            <a:off x="463375" y="482852"/>
            <a:ext cx="576900" cy="38590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39e33c6017c_0_85"/>
          <p:cNvSpPr txBox="1"/>
          <p:nvPr>
            <p:ph idx="4294967295" type="ctrTitle"/>
          </p:nvPr>
        </p:nvSpPr>
        <p:spPr>
          <a:xfrm>
            <a:off x="1192678" y="0"/>
            <a:ext cx="6846600" cy="5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fr" sz="1700"/>
              <a:t>Schema Design for OLAP System – Snowflake</a:t>
            </a:r>
            <a:endParaRPr b="1" i="0" sz="25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2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40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pic>
        <p:nvPicPr>
          <p:cNvPr id="110" name="Google Shape;110;g39e33c6017c_0_85"/>
          <p:cNvPicPr preferRelativeResize="0"/>
          <p:nvPr/>
        </p:nvPicPr>
        <p:blipFill rotWithShape="1">
          <a:blip r:embed="rId3">
            <a:alphaModFix/>
          </a:blip>
          <a:srcRect b="0" l="0" r="0" t="0"/>
          <a:stretch/>
        </p:blipFill>
        <p:spPr>
          <a:xfrm>
            <a:off x="0" y="2"/>
            <a:ext cx="576900" cy="385904"/>
          </a:xfrm>
          <a:prstGeom prst="rect">
            <a:avLst/>
          </a:prstGeom>
          <a:noFill/>
          <a:ln>
            <a:noFill/>
          </a:ln>
        </p:spPr>
      </p:pic>
      <p:pic>
        <p:nvPicPr>
          <p:cNvPr id="111" name="Google Shape;111;g39e33c6017c_0_85"/>
          <p:cNvPicPr preferRelativeResize="0"/>
          <p:nvPr/>
        </p:nvPicPr>
        <p:blipFill>
          <a:blip r:embed="rId4">
            <a:alphaModFix/>
          </a:blip>
          <a:stretch>
            <a:fillRect/>
          </a:stretch>
        </p:blipFill>
        <p:spPr>
          <a:xfrm>
            <a:off x="961025" y="428050"/>
            <a:ext cx="7309900" cy="4757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a1eef71857_0_32"/>
          <p:cNvSpPr txBox="1"/>
          <p:nvPr>
            <p:ph idx="4294967295" type="ctrTitle"/>
          </p:nvPr>
        </p:nvSpPr>
        <p:spPr>
          <a:xfrm>
            <a:off x="1192678" y="0"/>
            <a:ext cx="6846600" cy="5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fr" sz="1700"/>
              <a:t>Schema Design for OLAP System – Snowflake</a:t>
            </a:r>
            <a:endParaRPr b="1" i="0" sz="25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2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40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sp>
        <p:nvSpPr>
          <p:cNvPr id="117" name="Google Shape;117;g3a1eef71857_0_32"/>
          <p:cNvSpPr txBox="1"/>
          <p:nvPr>
            <p:ph idx="4294967295" type="ctrTitle"/>
          </p:nvPr>
        </p:nvSpPr>
        <p:spPr>
          <a:xfrm>
            <a:off x="0" y="385900"/>
            <a:ext cx="9144000" cy="475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fr" sz="1000"/>
              <a:t>Modèle en constellation</a:t>
            </a:r>
            <a:endParaRPr b="1" sz="1000"/>
          </a:p>
          <a:p>
            <a:pPr indent="-292100" lvl="0" marL="457200" rtl="0" algn="l">
              <a:lnSpc>
                <a:spcPct val="115000"/>
              </a:lnSpc>
              <a:spcBef>
                <a:spcPts val="1400"/>
              </a:spcBef>
              <a:spcAft>
                <a:spcPts val="0"/>
              </a:spcAft>
              <a:buSzPts val="1000"/>
              <a:buChar char="●"/>
            </a:pPr>
            <a:r>
              <a:rPr b="1" lang="fr" sz="1000"/>
              <a:t>Faits</a:t>
            </a:r>
            <a:r>
              <a:rPr lang="fr" sz="1000"/>
              <a:t> : fact_payments, fact_refunds, fact_chargebacks, fact_subscriptions</a:t>
            </a:r>
            <a:endParaRPr sz="1000"/>
          </a:p>
          <a:p>
            <a:pPr indent="-292100" lvl="0" marL="457200" rtl="0" algn="l">
              <a:lnSpc>
                <a:spcPct val="115000"/>
              </a:lnSpc>
              <a:spcBef>
                <a:spcPts val="0"/>
              </a:spcBef>
              <a:spcAft>
                <a:spcPts val="0"/>
              </a:spcAft>
              <a:buSzPts val="1000"/>
              <a:buChar char="●"/>
            </a:pPr>
            <a:r>
              <a:rPr b="1" lang="fr" sz="1000"/>
              <a:t>Dimensions</a:t>
            </a:r>
            <a:r>
              <a:rPr lang="fr" sz="1000"/>
              <a:t> : dim_customer, dim_merchant, dim_time, dim_geo, dim_device, dim_payment_method</a:t>
            </a:r>
            <a:endParaRPr sz="1000"/>
          </a:p>
          <a:p>
            <a:pPr indent="-292100" lvl="0" marL="457200" rtl="0" algn="l">
              <a:lnSpc>
                <a:spcPct val="115000"/>
              </a:lnSpc>
              <a:spcBef>
                <a:spcPts val="0"/>
              </a:spcBef>
              <a:spcAft>
                <a:spcPts val="0"/>
              </a:spcAft>
              <a:buSzPts val="1000"/>
              <a:buChar char="●"/>
            </a:pPr>
            <a:r>
              <a:rPr lang="fr" sz="1000"/>
              <a:t>Les dimensions sont </a:t>
            </a:r>
            <a:r>
              <a:rPr b="1" lang="fr" sz="1000"/>
              <a:t>conformes</a:t>
            </a:r>
            <a:r>
              <a:rPr lang="fr" sz="1000"/>
              <a:t> (communes à plusieurs tables de faits) pour permettre des comparaisons croisées (ex : paiements vs remboursements)</a:t>
            </a:r>
            <a:endParaRPr sz="1000"/>
          </a:p>
          <a:p>
            <a:pPr indent="0" lvl="0" marL="0" rtl="0" algn="l">
              <a:lnSpc>
                <a:spcPct val="115000"/>
              </a:lnSpc>
              <a:spcBef>
                <a:spcPts val="1400"/>
              </a:spcBef>
              <a:spcAft>
                <a:spcPts val="0"/>
              </a:spcAft>
              <a:buClr>
                <a:schemeClr val="dk1"/>
              </a:buClr>
              <a:buSzPts val="1100"/>
              <a:buFont typeface="Arial"/>
              <a:buNone/>
            </a:pPr>
            <a:r>
              <a:rPr b="1" lang="fr" sz="1000"/>
              <a:t>Stratégies d’agrégation</a:t>
            </a:r>
            <a:endParaRPr b="1" sz="1000"/>
          </a:p>
          <a:p>
            <a:pPr indent="-292100" lvl="0" marL="457200" rtl="0" algn="l">
              <a:lnSpc>
                <a:spcPct val="115000"/>
              </a:lnSpc>
              <a:spcBef>
                <a:spcPts val="1200"/>
              </a:spcBef>
              <a:spcAft>
                <a:spcPts val="0"/>
              </a:spcAft>
              <a:buSzPts val="1000"/>
              <a:buChar char="●"/>
            </a:pPr>
            <a:r>
              <a:rPr lang="fr" sz="1000"/>
              <a:t>Tables pré-agrégées (ex : agg_payments_daily_merchant, agg_revenue_monthly_geo).</a:t>
            </a:r>
            <a:endParaRPr sz="1000"/>
          </a:p>
          <a:p>
            <a:pPr indent="-292100" lvl="0" marL="457200" rtl="0" algn="l">
              <a:lnSpc>
                <a:spcPct val="115000"/>
              </a:lnSpc>
              <a:spcBef>
                <a:spcPts val="0"/>
              </a:spcBef>
              <a:spcAft>
                <a:spcPts val="0"/>
              </a:spcAft>
              <a:buSzPts val="1000"/>
              <a:buChar char="●"/>
            </a:pPr>
            <a:r>
              <a:rPr lang="fr" sz="1000"/>
              <a:t>Vues matérialisées (rafraîchies automatiquement).</a:t>
            </a:r>
            <a:endParaRPr sz="1000"/>
          </a:p>
          <a:p>
            <a:pPr indent="-292100" lvl="0" marL="457200" rtl="0" algn="l">
              <a:lnSpc>
                <a:spcPct val="115000"/>
              </a:lnSpc>
              <a:spcBef>
                <a:spcPts val="0"/>
              </a:spcBef>
              <a:spcAft>
                <a:spcPts val="0"/>
              </a:spcAft>
              <a:buSzPts val="1000"/>
              <a:buChar char="●"/>
            </a:pPr>
            <a:r>
              <a:rPr lang="fr" sz="1000"/>
              <a:t>KPI pré-calculés : taux de remboursement, litiges, score de fraude.</a:t>
            </a:r>
            <a:endParaRPr sz="1000"/>
          </a:p>
          <a:p>
            <a:pPr indent="-292100" lvl="0" marL="457200" rtl="0" algn="l">
              <a:lnSpc>
                <a:spcPct val="115000"/>
              </a:lnSpc>
              <a:spcBef>
                <a:spcPts val="0"/>
              </a:spcBef>
              <a:spcAft>
                <a:spcPts val="0"/>
              </a:spcAft>
              <a:buSzPts val="1000"/>
              <a:buChar char="●"/>
            </a:pPr>
            <a:r>
              <a:rPr lang="fr" sz="1000"/>
              <a:t>Rafraîchissements orchestrés par </a:t>
            </a:r>
            <a:r>
              <a:rPr b="1" lang="fr" sz="1000"/>
              <a:t>Airflow</a:t>
            </a:r>
            <a:r>
              <a:rPr lang="fr" sz="1000"/>
              <a:t>.</a:t>
            </a:r>
            <a:br>
              <a:rPr lang="fr" sz="1000"/>
            </a:br>
            <a:endParaRPr sz="1000"/>
          </a:p>
          <a:p>
            <a:pPr indent="0" lvl="0" marL="0" rtl="0" algn="l">
              <a:lnSpc>
                <a:spcPct val="115000"/>
              </a:lnSpc>
              <a:spcBef>
                <a:spcPts val="1200"/>
              </a:spcBef>
              <a:spcAft>
                <a:spcPts val="0"/>
              </a:spcAft>
              <a:buNone/>
            </a:pPr>
            <a:r>
              <a:rPr b="1" lang="fr" sz="1000"/>
              <a:t>Optimisation des requêtes</a:t>
            </a:r>
            <a:endParaRPr b="1" sz="1000"/>
          </a:p>
          <a:p>
            <a:pPr indent="-292100" lvl="0" marL="457200" rtl="0" algn="l">
              <a:lnSpc>
                <a:spcPct val="115000"/>
              </a:lnSpc>
              <a:spcBef>
                <a:spcPts val="1200"/>
              </a:spcBef>
              <a:spcAft>
                <a:spcPts val="0"/>
              </a:spcAft>
              <a:buSzPts val="1000"/>
              <a:buChar char="●"/>
            </a:pPr>
            <a:r>
              <a:rPr b="1" lang="fr" sz="1000"/>
              <a:t>Clustering keys</a:t>
            </a:r>
            <a:r>
              <a:rPr lang="fr" sz="1000"/>
              <a:t> sur (merchant_key, time_key) pour accélérer filtres et agrégations.</a:t>
            </a:r>
            <a:endParaRPr sz="1000"/>
          </a:p>
          <a:p>
            <a:pPr indent="-292100" lvl="0" marL="457200" rtl="0" algn="l">
              <a:lnSpc>
                <a:spcPct val="115000"/>
              </a:lnSpc>
              <a:spcBef>
                <a:spcPts val="0"/>
              </a:spcBef>
              <a:spcAft>
                <a:spcPts val="0"/>
              </a:spcAft>
              <a:buSzPts val="1000"/>
              <a:buChar char="●"/>
            </a:pPr>
            <a:r>
              <a:rPr b="1" lang="fr" sz="1000"/>
              <a:t>Micro-partitions</a:t>
            </a:r>
            <a:r>
              <a:rPr lang="fr" sz="1000"/>
              <a:t> (Snowflake) + </a:t>
            </a:r>
            <a:r>
              <a:rPr b="1" lang="fr" sz="1000"/>
              <a:t>result cache</a:t>
            </a:r>
            <a:r>
              <a:rPr lang="fr" sz="1000"/>
              <a:t> pour des requêtes instantanées.</a:t>
            </a:r>
            <a:endParaRPr sz="1000"/>
          </a:p>
          <a:p>
            <a:pPr indent="-292100" lvl="0" marL="457200" rtl="0" algn="l">
              <a:lnSpc>
                <a:spcPct val="115000"/>
              </a:lnSpc>
              <a:spcBef>
                <a:spcPts val="0"/>
              </a:spcBef>
              <a:spcAft>
                <a:spcPts val="0"/>
              </a:spcAft>
              <a:buSzPts val="1000"/>
              <a:buChar char="●"/>
            </a:pPr>
            <a:r>
              <a:rPr b="1" lang="fr" sz="1000"/>
              <a:t>Surrogate keys</a:t>
            </a:r>
            <a:r>
              <a:rPr lang="fr" sz="1000"/>
              <a:t> (entiers) pour joins rapides.</a:t>
            </a:r>
            <a:endParaRPr sz="1000"/>
          </a:p>
          <a:p>
            <a:pPr indent="-292100" lvl="0" marL="457200" rtl="0" algn="l">
              <a:lnSpc>
                <a:spcPct val="115000"/>
              </a:lnSpc>
              <a:spcBef>
                <a:spcPts val="0"/>
              </a:spcBef>
              <a:spcAft>
                <a:spcPts val="0"/>
              </a:spcAft>
              <a:buSzPts val="1000"/>
              <a:buChar char="●"/>
            </a:pPr>
            <a:r>
              <a:rPr b="1" lang="fr" sz="1000"/>
              <a:t>Warehouses dédiés</a:t>
            </a:r>
            <a:r>
              <a:rPr lang="fr" sz="1000"/>
              <a:t> (ELT / analytics / BI) pour isoler les charges et maîtriser les coûts.</a:t>
            </a:r>
            <a:br>
              <a:rPr lang="fr" sz="1000"/>
            </a:br>
            <a:endParaRPr sz="1000"/>
          </a:p>
          <a:p>
            <a:pPr indent="0" lvl="0" marL="457200" rtl="0" algn="l">
              <a:lnSpc>
                <a:spcPct val="115000"/>
              </a:lnSpc>
              <a:spcBef>
                <a:spcPts val="1200"/>
              </a:spcBef>
              <a:spcAft>
                <a:spcPts val="0"/>
              </a:spcAft>
              <a:buNone/>
            </a:pPr>
            <a:r>
              <a:rPr b="1" lang="fr" sz="1000"/>
              <a:t>Bénéfices</a:t>
            </a:r>
            <a:endParaRPr b="1" sz="1000"/>
          </a:p>
          <a:p>
            <a:pPr indent="-292100" lvl="0" marL="457200" rtl="0" algn="l">
              <a:lnSpc>
                <a:spcPct val="115000"/>
              </a:lnSpc>
              <a:spcBef>
                <a:spcPts val="1200"/>
              </a:spcBef>
              <a:spcAft>
                <a:spcPts val="0"/>
              </a:spcAft>
              <a:buClr>
                <a:srgbClr val="0E0E0E"/>
              </a:buClr>
              <a:buSzPts val="1000"/>
              <a:buChar char="●"/>
            </a:pPr>
            <a:r>
              <a:rPr lang="fr" sz="1000">
                <a:solidFill>
                  <a:srgbClr val="0E0E0E"/>
                </a:solidFill>
              </a:rPr>
              <a:t>Analyse à faible latence sur des milliards de transactions, coûts maîtrisés et scalabilité garantie.</a:t>
            </a:r>
            <a:endParaRPr sz="1000">
              <a:solidFill>
                <a:srgbClr val="0E0E0E"/>
              </a:solidFill>
            </a:endParaRPr>
          </a:p>
          <a:p>
            <a:pPr indent="-292100" lvl="0" marL="457200" rtl="0" algn="l">
              <a:lnSpc>
                <a:spcPct val="115000"/>
              </a:lnSpc>
              <a:spcBef>
                <a:spcPts val="0"/>
              </a:spcBef>
              <a:spcAft>
                <a:spcPts val="0"/>
              </a:spcAft>
              <a:buClr>
                <a:srgbClr val="0E0E0E"/>
              </a:buClr>
              <a:buSzPts val="1000"/>
              <a:buChar char="●"/>
            </a:pPr>
            <a:r>
              <a:rPr lang="fr" sz="1000">
                <a:solidFill>
                  <a:srgbClr val="0E0E0E"/>
                </a:solidFill>
              </a:rPr>
              <a:t>Architecture OLAP optimisée pour la performance, la gouvernance et la croissance internationale de Stripe.</a:t>
            </a:r>
            <a:endParaRPr b="0" i="0" sz="1000" u="none" cap="none" strike="noStrike">
              <a:solidFill>
                <a:srgbClr val="4B5258"/>
              </a:solidFill>
              <a:latin typeface="Inter Medium"/>
              <a:ea typeface="Inter Medium"/>
              <a:cs typeface="Inter Medium"/>
              <a:sym typeface="Inter Medium"/>
            </a:endParaRPr>
          </a:p>
        </p:txBody>
      </p:sp>
      <p:pic>
        <p:nvPicPr>
          <p:cNvPr id="118" name="Google Shape;118;g3a1eef71857_0_32"/>
          <p:cNvPicPr preferRelativeResize="0"/>
          <p:nvPr/>
        </p:nvPicPr>
        <p:blipFill rotWithShape="1">
          <a:blip r:embed="rId3">
            <a:alphaModFix/>
          </a:blip>
          <a:srcRect b="0" l="0" r="0" t="0"/>
          <a:stretch/>
        </p:blipFill>
        <p:spPr>
          <a:xfrm>
            <a:off x="0" y="2"/>
            <a:ext cx="576900" cy="38590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4FF"/>
        </a:solidFill>
      </p:bgPr>
    </p:bg>
    <p:spTree>
      <p:nvGrpSpPr>
        <p:cNvPr id="122" name="Shape 122"/>
        <p:cNvGrpSpPr/>
        <p:nvPr/>
      </p:nvGrpSpPr>
      <p:grpSpPr>
        <a:xfrm>
          <a:off x="0" y="0"/>
          <a:ext cx="0" cy="0"/>
          <a:chOff x="0" y="0"/>
          <a:chExt cx="0" cy="0"/>
        </a:xfrm>
      </p:grpSpPr>
      <p:sp>
        <p:nvSpPr>
          <p:cNvPr id="123" name="Google Shape;123;g3a1eef71857_0_39"/>
          <p:cNvSpPr txBox="1"/>
          <p:nvPr>
            <p:ph idx="4294967295" type="ctrTitle"/>
          </p:nvPr>
        </p:nvSpPr>
        <p:spPr>
          <a:xfrm>
            <a:off x="404075" y="1666825"/>
            <a:ext cx="8553000" cy="78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fr" sz="2400"/>
              <a:t>NoSQL Data Model</a:t>
            </a:r>
            <a:endParaRPr b="1" i="0" sz="5500" u="none" cap="none" strike="noStrike">
              <a:solidFill>
                <a:srgbClr val="0E3449"/>
              </a:solidFill>
              <a:latin typeface="Inter"/>
              <a:ea typeface="Inter"/>
              <a:cs typeface="Inter"/>
              <a:sym typeface="Inter"/>
            </a:endParaRPr>
          </a:p>
          <a:p>
            <a:pPr indent="0" lvl="0" marL="0" marR="0" rtl="0" algn="l">
              <a:lnSpc>
                <a:spcPct val="100000"/>
              </a:lnSpc>
              <a:spcBef>
                <a:spcPts val="600"/>
              </a:spcBef>
              <a:spcAft>
                <a:spcPts val="0"/>
              </a:spcAft>
              <a:buClr>
                <a:schemeClr val="dk1"/>
              </a:buClr>
              <a:buSzPts val="2800"/>
              <a:buFont typeface="Arial"/>
              <a:buNone/>
            </a:pPr>
            <a:r>
              <a:t/>
            </a:r>
            <a:endParaRPr b="1" i="0" sz="4500" u="none" cap="none" strike="noStrike">
              <a:solidFill>
                <a:srgbClr val="0E3449"/>
              </a:solidFill>
              <a:latin typeface="Inter"/>
              <a:ea typeface="Inter"/>
              <a:cs typeface="Inter"/>
              <a:sym typeface="Inter"/>
            </a:endParaRPr>
          </a:p>
        </p:txBody>
      </p:sp>
      <p:pic>
        <p:nvPicPr>
          <p:cNvPr id="124" name="Google Shape;124;g3a1eef71857_0_39"/>
          <p:cNvPicPr preferRelativeResize="0"/>
          <p:nvPr/>
        </p:nvPicPr>
        <p:blipFill rotWithShape="1">
          <a:blip r:embed="rId3">
            <a:alphaModFix/>
          </a:blip>
          <a:srcRect b="0" l="0" r="0" t="0"/>
          <a:stretch/>
        </p:blipFill>
        <p:spPr>
          <a:xfrm>
            <a:off x="463375" y="482852"/>
            <a:ext cx="576900" cy="38590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a1eef71857_0_45"/>
          <p:cNvSpPr txBox="1"/>
          <p:nvPr>
            <p:ph idx="4294967295" type="ctrTitle"/>
          </p:nvPr>
        </p:nvSpPr>
        <p:spPr>
          <a:xfrm>
            <a:off x="1192678" y="0"/>
            <a:ext cx="6846600" cy="5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fr" sz="1700"/>
              <a:t>NoSQL Data Model</a:t>
            </a:r>
            <a:endParaRPr b="1" i="0" sz="25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2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40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pic>
        <p:nvPicPr>
          <p:cNvPr id="130" name="Google Shape;130;g3a1eef71857_0_45"/>
          <p:cNvPicPr preferRelativeResize="0"/>
          <p:nvPr/>
        </p:nvPicPr>
        <p:blipFill rotWithShape="1">
          <a:blip r:embed="rId3">
            <a:alphaModFix/>
          </a:blip>
          <a:srcRect b="0" l="0" r="0" t="0"/>
          <a:stretch/>
        </p:blipFill>
        <p:spPr>
          <a:xfrm>
            <a:off x="0" y="2"/>
            <a:ext cx="576900" cy="385904"/>
          </a:xfrm>
          <a:prstGeom prst="rect">
            <a:avLst/>
          </a:prstGeom>
          <a:noFill/>
          <a:ln>
            <a:noFill/>
          </a:ln>
        </p:spPr>
      </p:pic>
      <p:pic>
        <p:nvPicPr>
          <p:cNvPr id="131" name="Google Shape;131;g3a1eef71857_0_45"/>
          <p:cNvPicPr preferRelativeResize="0"/>
          <p:nvPr/>
        </p:nvPicPr>
        <p:blipFill>
          <a:blip r:embed="rId4">
            <a:alphaModFix/>
          </a:blip>
          <a:stretch>
            <a:fillRect/>
          </a:stretch>
        </p:blipFill>
        <p:spPr>
          <a:xfrm>
            <a:off x="1480225" y="385900"/>
            <a:ext cx="5239150" cy="4757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a1fa3a7511_0_11"/>
          <p:cNvSpPr txBox="1"/>
          <p:nvPr>
            <p:ph idx="4294967295" type="ctrTitle"/>
          </p:nvPr>
        </p:nvSpPr>
        <p:spPr>
          <a:xfrm>
            <a:off x="1192678" y="0"/>
            <a:ext cx="6846600" cy="5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fr" sz="1700"/>
              <a:t>NoSQL Data Model</a:t>
            </a:r>
            <a:endParaRPr b="1" i="0" sz="25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2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40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sp>
        <p:nvSpPr>
          <p:cNvPr id="137" name="Google Shape;137;g3a1fa3a7511_0_11"/>
          <p:cNvSpPr txBox="1"/>
          <p:nvPr>
            <p:ph idx="4294967295" type="ctrTitle"/>
          </p:nvPr>
        </p:nvSpPr>
        <p:spPr>
          <a:xfrm>
            <a:off x="0" y="385900"/>
            <a:ext cx="9144000" cy="475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fr" sz="900"/>
              <a:t>Objectif</a:t>
            </a:r>
            <a:endParaRPr b="1" sz="900"/>
          </a:p>
          <a:p>
            <a:pPr indent="0" lvl="0" marL="0" rtl="0" algn="l">
              <a:lnSpc>
                <a:spcPct val="115000"/>
              </a:lnSpc>
              <a:spcBef>
                <a:spcPts val="1200"/>
              </a:spcBef>
              <a:spcAft>
                <a:spcPts val="0"/>
              </a:spcAft>
              <a:buNone/>
            </a:pPr>
            <a:r>
              <a:rPr lang="fr" sz="900"/>
              <a:t>Gérer les données </a:t>
            </a:r>
            <a:r>
              <a:rPr b="1" lang="fr" sz="900"/>
              <a:t>semi-structurées et non structurées</a:t>
            </a:r>
            <a:r>
              <a:rPr lang="fr" sz="900"/>
              <a:t> (sessions, logs, feedbacks, features ML) difficiles à stocker dans un modèle relationnel.	→ Format </a:t>
            </a:r>
            <a:r>
              <a:rPr b="1" lang="fr" sz="900"/>
              <a:t>documentaire JSON</a:t>
            </a:r>
            <a:r>
              <a:rPr lang="fr" sz="900"/>
              <a:t>, volumineux, flexible et scalable.</a:t>
            </a:r>
            <a:endParaRPr sz="900"/>
          </a:p>
          <a:p>
            <a:pPr indent="0" lvl="0" marL="0" rtl="0" algn="l">
              <a:lnSpc>
                <a:spcPct val="115000"/>
              </a:lnSpc>
              <a:spcBef>
                <a:spcPts val="1400"/>
              </a:spcBef>
              <a:spcAft>
                <a:spcPts val="0"/>
              </a:spcAft>
              <a:buNone/>
            </a:pPr>
            <a:r>
              <a:rPr b="1" lang="fr" sz="900"/>
              <a:t>Collections principales</a:t>
            </a:r>
            <a:endParaRPr b="1" sz="900"/>
          </a:p>
          <a:p>
            <a:pPr indent="0" lvl="0" marL="0" rtl="0" algn="l">
              <a:lnSpc>
                <a:spcPct val="115000"/>
              </a:lnSpc>
              <a:spcBef>
                <a:spcPts val="400"/>
              </a:spcBef>
              <a:spcAft>
                <a:spcPts val="0"/>
              </a:spcAft>
              <a:buNone/>
            </a:pPr>
            <a:r>
              <a:rPr b="1" lang="fr" sz="900">
                <a:solidFill>
                  <a:srgbClr val="000000"/>
                </a:solidFill>
              </a:rPr>
              <a:t>user_sessions : </a:t>
            </a:r>
            <a:r>
              <a:rPr lang="fr" sz="900">
                <a:solidFill>
                  <a:srgbClr val="000000"/>
                </a:solidFill>
              </a:rPr>
              <a:t>Suit les sessions utilisateurs et leurs événements (navigation, paiements tentés). Données embarquées (</a:t>
            </a:r>
            <a:r>
              <a:rPr i="1" lang="fr" sz="900">
                <a:solidFill>
                  <a:srgbClr val="000000"/>
                </a:solidFill>
              </a:rPr>
              <a:t>embedding</a:t>
            </a:r>
            <a:r>
              <a:rPr lang="fr" sz="900">
                <a:solidFill>
                  <a:srgbClr val="000000"/>
                </a:solidFill>
              </a:rPr>
              <a:t>) avec events[].</a:t>
            </a:r>
            <a:endParaRPr sz="900">
              <a:solidFill>
                <a:srgbClr val="000000"/>
              </a:solidFill>
            </a:endParaRPr>
          </a:p>
          <a:p>
            <a:pPr indent="0" lvl="0" marL="0" rtl="0" algn="l">
              <a:lnSpc>
                <a:spcPct val="115000"/>
              </a:lnSpc>
              <a:spcBef>
                <a:spcPts val="0"/>
              </a:spcBef>
              <a:spcAft>
                <a:spcPts val="0"/>
              </a:spcAft>
              <a:buNone/>
            </a:pPr>
            <a:r>
              <a:rPr b="1" lang="fr" sz="900">
                <a:solidFill>
                  <a:srgbClr val="000000"/>
                </a:solidFill>
              </a:rPr>
              <a:t>api_logs : </a:t>
            </a:r>
            <a:r>
              <a:rPr lang="fr" sz="900">
                <a:solidFill>
                  <a:srgbClr val="000000"/>
                </a:solidFill>
              </a:rPr>
              <a:t>Journalise les appels API Stripe (latence, statut HTTP, endpoint). Données </a:t>
            </a:r>
            <a:r>
              <a:rPr i="1" lang="fr" sz="900">
                <a:solidFill>
                  <a:srgbClr val="000000"/>
                </a:solidFill>
              </a:rPr>
              <a:t>time-series</a:t>
            </a:r>
            <a:r>
              <a:rPr lang="fr" sz="900">
                <a:solidFill>
                  <a:srgbClr val="000000"/>
                </a:solidFill>
              </a:rPr>
              <a:t> indexées sur timestamp.</a:t>
            </a:r>
            <a:endParaRPr sz="900">
              <a:solidFill>
                <a:srgbClr val="000000"/>
              </a:solidFill>
            </a:endParaRPr>
          </a:p>
          <a:p>
            <a:pPr indent="0" lvl="0" marL="0" rtl="0" algn="l">
              <a:lnSpc>
                <a:spcPct val="115000"/>
              </a:lnSpc>
              <a:spcBef>
                <a:spcPts val="0"/>
              </a:spcBef>
              <a:spcAft>
                <a:spcPts val="0"/>
              </a:spcAft>
              <a:buNone/>
            </a:pPr>
            <a:r>
              <a:rPr b="1" lang="fr" sz="900">
                <a:solidFill>
                  <a:srgbClr val="000000"/>
                </a:solidFill>
              </a:rPr>
              <a:t>ml_features : </a:t>
            </a:r>
            <a:r>
              <a:rPr lang="fr" sz="900">
                <a:solidFill>
                  <a:srgbClr val="000000"/>
                </a:solidFill>
              </a:rPr>
              <a:t>Stocke les variables d’entrée pour les modèles ML (fraude, scoring). Embedding des features dans un bloc JSON.</a:t>
            </a:r>
            <a:endParaRPr sz="900">
              <a:solidFill>
                <a:srgbClr val="000000"/>
              </a:solidFill>
            </a:endParaRPr>
          </a:p>
          <a:p>
            <a:pPr indent="0" lvl="0" marL="0" rtl="0" algn="l">
              <a:lnSpc>
                <a:spcPct val="115000"/>
              </a:lnSpc>
              <a:spcBef>
                <a:spcPts val="0"/>
              </a:spcBef>
              <a:spcAft>
                <a:spcPts val="0"/>
              </a:spcAft>
              <a:buNone/>
            </a:pPr>
            <a:r>
              <a:rPr b="1" lang="fr" sz="900">
                <a:solidFill>
                  <a:srgbClr val="000000"/>
                </a:solidFill>
              </a:rPr>
              <a:t>feedback : </a:t>
            </a:r>
            <a:r>
              <a:rPr lang="fr" sz="900">
                <a:solidFill>
                  <a:srgbClr val="000000"/>
                </a:solidFill>
              </a:rPr>
              <a:t>Centralise les retours clients (note, commentaire, sentiment). Index texte pour analyse sémantique (NLP).</a:t>
            </a:r>
            <a:endParaRPr sz="900">
              <a:solidFill>
                <a:srgbClr val="000000"/>
              </a:solidFill>
            </a:endParaRPr>
          </a:p>
          <a:p>
            <a:pPr indent="0" lvl="0" marL="0" rtl="0" algn="l">
              <a:lnSpc>
                <a:spcPct val="115000"/>
              </a:lnSpc>
              <a:spcBef>
                <a:spcPts val="1400"/>
              </a:spcBef>
              <a:spcAft>
                <a:spcPts val="0"/>
              </a:spcAft>
              <a:buNone/>
            </a:pPr>
            <a:r>
              <a:rPr b="1" lang="fr" sz="900"/>
              <a:t>Stratégies de modélisation</a:t>
            </a:r>
            <a:endParaRPr b="1" sz="900"/>
          </a:p>
          <a:p>
            <a:pPr indent="-285750" lvl="0" marL="457200" rtl="0" algn="l">
              <a:lnSpc>
                <a:spcPct val="115000"/>
              </a:lnSpc>
              <a:spcBef>
                <a:spcPts val="1200"/>
              </a:spcBef>
              <a:spcAft>
                <a:spcPts val="0"/>
              </a:spcAft>
              <a:buSzPts val="900"/>
              <a:buChar char="●"/>
            </a:pPr>
            <a:r>
              <a:rPr b="1" lang="fr" sz="900"/>
              <a:t>Embedding</a:t>
            </a:r>
            <a:r>
              <a:rPr lang="fr" sz="900"/>
              <a:t> → pour les données </a:t>
            </a:r>
            <a:r>
              <a:rPr b="1" lang="fr" sz="900"/>
              <a:t>fortement liées</a:t>
            </a:r>
            <a:r>
              <a:rPr lang="fr" sz="900"/>
              <a:t> et lues ensemble (</a:t>
            </a:r>
            <a:r>
              <a:rPr i="1" lang="fr" sz="900"/>
              <a:t>events[]</a:t>
            </a:r>
            <a:r>
              <a:rPr lang="fr" sz="900"/>
              <a:t>, </a:t>
            </a:r>
            <a:r>
              <a:rPr i="1" lang="fr" sz="900"/>
              <a:t>features{}</a:t>
            </a:r>
            <a:r>
              <a:rPr lang="fr" sz="900"/>
              <a:t>).</a:t>
            </a:r>
            <a:endParaRPr sz="900"/>
          </a:p>
          <a:p>
            <a:pPr indent="-285750" lvl="0" marL="457200" rtl="0" algn="l">
              <a:lnSpc>
                <a:spcPct val="115000"/>
              </a:lnSpc>
              <a:spcBef>
                <a:spcPts val="0"/>
              </a:spcBef>
              <a:spcAft>
                <a:spcPts val="0"/>
              </a:spcAft>
              <a:buSzPts val="900"/>
              <a:buChar char="●"/>
            </a:pPr>
            <a:r>
              <a:rPr b="1" lang="fr" sz="900"/>
              <a:t>Referencing</a:t>
            </a:r>
            <a:r>
              <a:rPr lang="fr" sz="900"/>
              <a:t> → pour les données partagées ou provenant d’autres systèmes (customer_id, merchant_id).</a:t>
            </a:r>
            <a:endParaRPr sz="900"/>
          </a:p>
          <a:p>
            <a:pPr indent="-285750" lvl="0" marL="457200" rtl="0" algn="l">
              <a:lnSpc>
                <a:spcPct val="115000"/>
              </a:lnSpc>
              <a:spcBef>
                <a:spcPts val="0"/>
              </a:spcBef>
              <a:spcAft>
                <a:spcPts val="0"/>
              </a:spcAft>
              <a:buSzPts val="900"/>
              <a:buChar char="●"/>
            </a:pPr>
            <a:r>
              <a:rPr lang="fr" sz="900"/>
              <a:t>Pas de DBRef formel : jointures gérées côté pipeline (Airbyte / Snowflake).</a:t>
            </a:r>
            <a:endParaRPr sz="900"/>
          </a:p>
          <a:p>
            <a:pPr indent="0" lvl="0" marL="0" rtl="0" algn="l">
              <a:lnSpc>
                <a:spcPct val="115000"/>
              </a:lnSpc>
              <a:spcBef>
                <a:spcPts val="1400"/>
              </a:spcBef>
              <a:spcAft>
                <a:spcPts val="0"/>
              </a:spcAft>
              <a:buNone/>
            </a:pPr>
            <a:r>
              <a:rPr b="1" lang="fr" sz="900"/>
              <a:t>Indexation &amp; Rétention</a:t>
            </a:r>
            <a:endParaRPr b="1" sz="900"/>
          </a:p>
          <a:p>
            <a:pPr indent="-285750" lvl="0" marL="457200" rtl="0" algn="l">
              <a:lnSpc>
                <a:spcPct val="115000"/>
              </a:lnSpc>
              <a:spcBef>
                <a:spcPts val="1200"/>
              </a:spcBef>
              <a:spcAft>
                <a:spcPts val="0"/>
              </a:spcAft>
              <a:buSzPts val="900"/>
              <a:buChar char="●"/>
            </a:pPr>
            <a:r>
              <a:rPr lang="fr" sz="900"/>
              <a:t>Index clés : customer_id, merchant_id, timestamp, session_id.</a:t>
            </a:r>
            <a:endParaRPr sz="900"/>
          </a:p>
          <a:p>
            <a:pPr indent="-285750" lvl="0" marL="457200" rtl="0" algn="l">
              <a:lnSpc>
                <a:spcPct val="115000"/>
              </a:lnSpc>
              <a:spcBef>
                <a:spcPts val="0"/>
              </a:spcBef>
              <a:spcAft>
                <a:spcPts val="0"/>
              </a:spcAft>
              <a:buSzPts val="900"/>
              <a:buChar char="●"/>
            </a:pPr>
            <a:r>
              <a:rPr lang="fr" sz="900"/>
              <a:t>Index TTL sur api_logs et user_sessions (rétention 90–180 jours).</a:t>
            </a:r>
            <a:endParaRPr sz="900"/>
          </a:p>
          <a:p>
            <a:pPr indent="-285750" lvl="0" marL="457200" rtl="0" algn="l">
              <a:lnSpc>
                <a:spcPct val="115000"/>
              </a:lnSpc>
              <a:spcBef>
                <a:spcPts val="0"/>
              </a:spcBef>
              <a:spcAft>
                <a:spcPts val="0"/>
              </a:spcAft>
              <a:buSzPts val="900"/>
              <a:buChar char="●"/>
            </a:pPr>
            <a:r>
              <a:rPr lang="fr" sz="900"/>
              <a:t>Conservation longue pour ml_features et feedback (entraîneurs &amp; qualité).</a:t>
            </a:r>
            <a:endParaRPr b="1" sz="900"/>
          </a:p>
          <a:p>
            <a:pPr indent="0" lvl="0" marL="0" rtl="0" algn="l">
              <a:lnSpc>
                <a:spcPct val="115000"/>
              </a:lnSpc>
              <a:spcBef>
                <a:spcPts val="1400"/>
              </a:spcBef>
              <a:spcAft>
                <a:spcPts val="0"/>
              </a:spcAft>
              <a:buNone/>
            </a:pPr>
            <a:r>
              <a:rPr b="1" lang="fr" sz="900"/>
              <a:t>Intégration</a:t>
            </a:r>
            <a:endParaRPr b="1" sz="900"/>
          </a:p>
          <a:p>
            <a:pPr indent="0" lvl="0" marL="0" rtl="0" algn="l">
              <a:lnSpc>
                <a:spcPct val="115000"/>
              </a:lnSpc>
              <a:spcBef>
                <a:spcPts val="1200"/>
              </a:spcBef>
              <a:spcAft>
                <a:spcPts val="0"/>
              </a:spcAft>
              <a:buNone/>
            </a:pPr>
            <a:r>
              <a:rPr lang="fr" sz="900"/>
              <a:t>Les collections MongoDB alimentent :</a:t>
            </a:r>
            <a:endParaRPr sz="900"/>
          </a:p>
          <a:p>
            <a:pPr indent="-285750" lvl="0" marL="457200" rtl="0" algn="l">
              <a:lnSpc>
                <a:spcPct val="115000"/>
              </a:lnSpc>
              <a:spcBef>
                <a:spcPts val="1200"/>
              </a:spcBef>
              <a:spcAft>
                <a:spcPts val="0"/>
              </a:spcAft>
              <a:buSzPts val="900"/>
              <a:buChar char="●"/>
            </a:pPr>
            <a:r>
              <a:rPr b="1" lang="fr" sz="900"/>
              <a:t>Snowflake (OLAP)</a:t>
            </a:r>
            <a:r>
              <a:rPr lang="fr" sz="900"/>
              <a:t> via Airbyte / Kafka (enrichissement analytique).</a:t>
            </a:r>
            <a:endParaRPr sz="900"/>
          </a:p>
          <a:p>
            <a:pPr indent="-298450" lvl="0" marL="457200" rtl="0" algn="l">
              <a:lnSpc>
                <a:spcPct val="115000"/>
              </a:lnSpc>
              <a:spcBef>
                <a:spcPts val="0"/>
              </a:spcBef>
              <a:spcAft>
                <a:spcPts val="0"/>
              </a:spcAft>
              <a:buSzPts val="1100"/>
              <a:buChar char="●"/>
            </a:pPr>
            <a:r>
              <a:rPr b="1" lang="fr" sz="900"/>
              <a:t>ML pipelines</a:t>
            </a:r>
            <a:r>
              <a:rPr lang="fr" sz="900"/>
              <a:t> pour la détection de fraude et la personnalisation.</a:t>
            </a:r>
            <a:br>
              <a:rPr lang="fr" sz="1100"/>
            </a:br>
            <a:endParaRPr sz="1100"/>
          </a:p>
          <a:p>
            <a:pPr indent="0" lvl="0" marL="457200" rtl="0" algn="l">
              <a:lnSpc>
                <a:spcPct val="115000"/>
              </a:lnSpc>
              <a:spcBef>
                <a:spcPts val="1200"/>
              </a:spcBef>
              <a:spcAft>
                <a:spcPts val="0"/>
              </a:spcAft>
              <a:buNone/>
            </a:pPr>
            <a:br>
              <a:rPr lang="fr" sz="1100"/>
            </a:br>
            <a:endParaRPr sz="1100"/>
          </a:p>
          <a:p>
            <a:pPr indent="0" lvl="0" marL="457200" rtl="0" algn="l">
              <a:lnSpc>
                <a:spcPct val="115000"/>
              </a:lnSpc>
              <a:spcBef>
                <a:spcPts val="1200"/>
              </a:spcBef>
              <a:spcAft>
                <a:spcPts val="0"/>
              </a:spcAft>
              <a:buNone/>
            </a:pPr>
            <a:br>
              <a:rPr lang="fr" sz="1100"/>
            </a:br>
            <a:endParaRPr sz="1100"/>
          </a:p>
          <a:p>
            <a:pPr indent="0" lvl="0" marL="0" rtl="0" algn="l">
              <a:lnSpc>
                <a:spcPct val="115000"/>
              </a:lnSpc>
              <a:spcBef>
                <a:spcPts val="1200"/>
              </a:spcBef>
              <a:spcAft>
                <a:spcPts val="0"/>
              </a:spcAft>
              <a:buNone/>
            </a:pPr>
            <a:r>
              <a:t/>
            </a:r>
            <a:endParaRPr sz="1100"/>
          </a:p>
          <a:p>
            <a:pPr indent="0" lvl="0" marL="457200" rtl="0" algn="l">
              <a:lnSpc>
                <a:spcPct val="115000"/>
              </a:lnSpc>
              <a:spcBef>
                <a:spcPts val="1200"/>
              </a:spcBef>
              <a:spcAft>
                <a:spcPts val="0"/>
              </a:spcAft>
              <a:buNone/>
            </a:pPr>
            <a:r>
              <a:t/>
            </a:r>
            <a:endParaRPr sz="1000">
              <a:solidFill>
                <a:srgbClr val="4B5258"/>
              </a:solidFill>
              <a:latin typeface="Inter Medium"/>
              <a:ea typeface="Inter Medium"/>
              <a:cs typeface="Inter Medium"/>
              <a:sym typeface="Inter Medium"/>
            </a:endParaRPr>
          </a:p>
        </p:txBody>
      </p:sp>
      <p:pic>
        <p:nvPicPr>
          <p:cNvPr id="138" name="Google Shape;138;g3a1fa3a7511_0_11"/>
          <p:cNvPicPr preferRelativeResize="0"/>
          <p:nvPr/>
        </p:nvPicPr>
        <p:blipFill rotWithShape="1">
          <a:blip r:embed="rId3">
            <a:alphaModFix/>
          </a:blip>
          <a:srcRect b="0" l="0" r="0" t="0"/>
          <a:stretch/>
        </p:blipFill>
        <p:spPr>
          <a:xfrm>
            <a:off x="0" y="2"/>
            <a:ext cx="576900" cy="38590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4FF"/>
        </a:solidFill>
      </p:bgPr>
    </p:bg>
    <p:spTree>
      <p:nvGrpSpPr>
        <p:cNvPr id="142" name="Shape 142"/>
        <p:cNvGrpSpPr/>
        <p:nvPr/>
      </p:nvGrpSpPr>
      <p:grpSpPr>
        <a:xfrm>
          <a:off x="0" y="0"/>
          <a:ext cx="0" cy="0"/>
          <a:chOff x="0" y="0"/>
          <a:chExt cx="0" cy="0"/>
        </a:xfrm>
      </p:grpSpPr>
      <p:sp>
        <p:nvSpPr>
          <p:cNvPr id="143" name="Google Shape;143;g3a1fa3a7511_0_18"/>
          <p:cNvSpPr txBox="1"/>
          <p:nvPr>
            <p:ph idx="4294967295" type="ctrTitle"/>
          </p:nvPr>
        </p:nvSpPr>
        <p:spPr>
          <a:xfrm>
            <a:off x="404075" y="1666825"/>
            <a:ext cx="8553000" cy="78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fr" sz="2400"/>
              <a:t>Data Pipeline Architecture</a:t>
            </a:r>
            <a:endParaRPr b="1" i="0" sz="5500" u="none" cap="none" strike="noStrike">
              <a:solidFill>
                <a:srgbClr val="0E3449"/>
              </a:solidFill>
              <a:latin typeface="Inter"/>
              <a:ea typeface="Inter"/>
              <a:cs typeface="Inter"/>
              <a:sym typeface="Inter"/>
            </a:endParaRPr>
          </a:p>
          <a:p>
            <a:pPr indent="0" lvl="0" marL="0" marR="0" rtl="0" algn="l">
              <a:lnSpc>
                <a:spcPct val="100000"/>
              </a:lnSpc>
              <a:spcBef>
                <a:spcPts val="600"/>
              </a:spcBef>
              <a:spcAft>
                <a:spcPts val="0"/>
              </a:spcAft>
              <a:buClr>
                <a:schemeClr val="dk1"/>
              </a:buClr>
              <a:buSzPts val="2800"/>
              <a:buFont typeface="Arial"/>
              <a:buNone/>
            </a:pPr>
            <a:r>
              <a:t/>
            </a:r>
            <a:endParaRPr b="1" i="0" sz="4500" u="none" cap="none" strike="noStrike">
              <a:solidFill>
                <a:srgbClr val="0E3449"/>
              </a:solidFill>
              <a:latin typeface="Inter"/>
              <a:ea typeface="Inter"/>
              <a:cs typeface="Inter"/>
              <a:sym typeface="Inter"/>
            </a:endParaRPr>
          </a:p>
        </p:txBody>
      </p:sp>
      <p:pic>
        <p:nvPicPr>
          <p:cNvPr id="144" name="Google Shape;144;g3a1fa3a7511_0_18"/>
          <p:cNvPicPr preferRelativeResize="0"/>
          <p:nvPr/>
        </p:nvPicPr>
        <p:blipFill rotWithShape="1">
          <a:blip r:embed="rId3">
            <a:alphaModFix/>
          </a:blip>
          <a:srcRect b="0" l="0" r="0" t="0"/>
          <a:stretch/>
        </p:blipFill>
        <p:spPr>
          <a:xfrm>
            <a:off x="463375" y="482852"/>
            <a:ext cx="576900" cy="38590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a1fa3a7511_0_52"/>
          <p:cNvSpPr txBox="1"/>
          <p:nvPr>
            <p:ph idx="4294967295" type="ctrTitle"/>
          </p:nvPr>
        </p:nvSpPr>
        <p:spPr>
          <a:xfrm>
            <a:off x="1192678" y="0"/>
            <a:ext cx="6846600" cy="5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fr" sz="1700"/>
              <a:t>Data Pipeline Architecture</a:t>
            </a:r>
            <a:endParaRPr b="1" i="0" sz="25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2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40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sp>
        <p:nvSpPr>
          <p:cNvPr id="150" name="Google Shape;150;g3a1fa3a7511_0_52"/>
          <p:cNvSpPr txBox="1"/>
          <p:nvPr>
            <p:ph idx="4294967295" type="ctrTitle"/>
          </p:nvPr>
        </p:nvSpPr>
        <p:spPr>
          <a:xfrm>
            <a:off x="0" y="385900"/>
            <a:ext cx="9144000" cy="475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fr" sz="1300"/>
              <a:t>Objectif</a:t>
            </a:r>
            <a:endParaRPr b="1" sz="1300"/>
          </a:p>
          <a:p>
            <a:pPr indent="0" lvl="0" marL="0" rtl="0" algn="l">
              <a:lnSpc>
                <a:spcPct val="115000"/>
              </a:lnSpc>
              <a:spcBef>
                <a:spcPts val="1200"/>
              </a:spcBef>
              <a:spcAft>
                <a:spcPts val="0"/>
              </a:spcAft>
              <a:buNone/>
            </a:pPr>
            <a:r>
              <a:rPr lang="fr" sz="1100"/>
              <a:t>Intégrer et synchroniser les données entre </a:t>
            </a:r>
            <a:r>
              <a:rPr b="1" lang="fr" sz="1100"/>
              <a:t>OLTP (PostgreSQL)</a:t>
            </a:r>
            <a:r>
              <a:rPr lang="fr" sz="1100"/>
              <a:t>, </a:t>
            </a:r>
            <a:r>
              <a:rPr b="1" lang="fr" sz="1100"/>
              <a:t>NoSQL (MongoDB)</a:t>
            </a:r>
            <a:r>
              <a:rPr lang="fr" sz="1100"/>
              <a:t> et </a:t>
            </a:r>
            <a:r>
              <a:rPr b="1" lang="fr" sz="1100"/>
              <a:t>OLAP (Snowflake)</a:t>
            </a:r>
            <a:r>
              <a:rPr lang="fr" sz="1100"/>
              <a:t> via une architecture </a:t>
            </a:r>
            <a:r>
              <a:rPr b="1" lang="fr" sz="1100"/>
              <a:t>ELT</a:t>
            </a:r>
            <a:r>
              <a:rPr lang="fr" sz="1100"/>
              <a:t> orchestrée par </a:t>
            </a:r>
            <a:r>
              <a:rPr b="1" lang="fr" sz="1100"/>
              <a:t>Airflow</a:t>
            </a:r>
            <a:r>
              <a:rPr lang="fr" sz="1100"/>
              <a:t>.</a:t>
            </a:r>
            <a:endParaRPr sz="1100"/>
          </a:p>
          <a:p>
            <a:pPr indent="0" lvl="0" marL="0" rtl="0" algn="l">
              <a:lnSpc>
                <a:spcPct val="115000"/>
              </a:lnSpc>
              <a:spcBef>
                <a:spcPts val="1400"/>
              </a:spcBef>
              <a:spcAft>
                <a:spcPts val="0"/>
              </a:spcAft>
              <a:buNone/>
            </a:pPr>
            <a:r>
              <a:rPr b="1" lang="fr" sz="1300"/>
              <a:t>Flux principaux</a:t>
            </a:r>
            <a:endParaRPr b="1" sz="1300"/>
          </a:p>
          <a:p>
            <a:pPr indent="0" lvl="0" marL="0" rtl="0" algn="ctr">
              <a:lnSpc>
                <a:spcPct val="115000"/>
              </a:lnSpc>
              <a:spcBef>
                <a:spcPts val="400"/>
              </a:spcBef>
              <a:spcAft>
                <a:spcPts val="0"/>
              </a:spcAft>
              <a:buNone/>
            </a:pPr>
            <a:r>
              <a:t/>
            </a:r>
            <a:endParaRPr b="1" sz="1000">
              <a:solidFill>
                <a:srgbClr val="000000"/>
              </a:solidFill>
            </a:endParaRPr>
          </a:p>
          <a:p>
            <a:pPr indent="0" lvl="0" marL="0" rtl="0" algn="l">
              <a:lnSpc>
                <a:spcPct val="115000"/>
              </a:lnSpc>
              <a:spcBef>
                <a:spcPts val="0"/>
              </a:spcBef>
              <a:spcAft>
                <a:spcPts val="0"/>
              </a:spcAft>
              <a:buNone/>
            </a:pPr>
            <a:r>
              <a:rPr b="1" lang="fr" sz="1000">
                <a:solidFill>
                  <a:srgbClr val="000000"/>
                </a:solidFill>
              </a:rPr>
              <a:t>OLTP → Snowflake : </a:t>
            </a:r>
            <a:r>
              <a:rPr lang="fr" sz="1000">
                <a:solidFill>
                  <a:srgbClr val="000000"/>
                </a:solidFill>
              </a:rPr>
              <a:t>Ingestion des données transactionnelles (paiements, remboursements, clients, marchands). Outils : </a:t>
            </a:r>
            <a:r>
              <a:rPr b="1" lang="fr" sz="1000">
                <a:solidFill>
                  <a:srgbClr val="000000"/>
                </a:solidFill>
              </a:rPr>
              <a:t>Airbyte</a:t>
            </a:r>
            <a:r>
              <a:rPr lang="fr" sz="1000">
                <a:solidFill>
                  <a:srgbClr val="000000"/>
                </a:solidFill>
              </a:rPr>
              <a:t> (Batch + CDC) → Snowflake </a:t>
            </a:r>
            <a:r>
              <a:rPr b="1" lang="fr" sz="1000">
                <a:solidFill>
                  <a:srgbClr val="000000"/>
                </a:solidFill>
              </a:rPr>
              <a:t>RAW</a:t>
            </a:r>
            <a:r>
              <a:rPr lang="fr" sz="1000">
                <a:solidFill>
                  <a:srgbClr val="000000"/>
                </a:solidFill>
              </a:rPr>
              <a:t> → </a:t>
            </a:r>
            <a:r>
              <a:rPr b="1" lang="fr" sz="1000">
                <a:solidFill>
                  <a:srgbClr val="000000"/>
                </a:solidFill>
              </a:rPr>
              <a:t>dbt</a:t>
            </a:r>
            <a:r>
              <a:rPr lang="fr" sz="1000">
                <a:solidFill>
                  <a:srgbClr val="000000"/>
                </a:solidFill>
              </a:rPr>
              <a:t> (staging → OLAP).</a:t>
            </a:r>
            <a:endParaRPr sz="1000">
              <a:solidFill>
                <a:srgbClr val="000000"/>
              </a:solidFill>
            </a:endParaRPr>
          </a:p>
          <a:p>
            <a:pPr indent="0" lvl="0" marL="0" rtl="0" algn="l">
              <a:lnSpc>
                <a:spcPct val="115000"/>
              </a:lnSpc>
              <a:spcBef>
                <a:spcPts val="0"/>
              </a:spcBef>
              <a:spcAft>
                <a:spcPts val="0"/>
              </a:spcAft>
              <a:buNone/>
            </a:pPr>
            <a:r>
              <a:rPr b="1" lang="fr" sz="1000">
                <a:solidFill>
                  <a:srgbClr val="000000"/>
                </a:solidFill>
              </a:rPr>
              <a:t>NoSQL → Snowflake : </a:t>
            </a:r>
            <a:r>
              <a:rPr lang="fr" sz="1000">
                <a:solidFill>
                  <a:srgbClr val="000000"/>
                </a:solidFill>
              </a:rPr>
              <a:t>Enrichissement avec données comportementales (sessions, logs, feedback, features ML). Outils : </a:t>
            </a:r>
            <a:r>
              <a:rPr b="1" lang="fr" sz="1000">
                <a:solidFill>
                  <a:srgbClr val="000000"/>
                </a:solidFill>
              </a:rPr>
              <a:t>Airbyte</a:t>
            </a:r>
            <a:r>
              <a:rPr lang="fr" sz="1000">
                <a:solidFill>
                  <a:srgbClr val="000000"/>
                </a:solidFill>
              </a:rPr>
              <a:t> (batch) ou </a:t>
            </a:r>
            <a:r>
              <a:rPr b="1" lang="fr" sz="1000">
                <a:solidFill>
                  <a:srgbClr val="000000"/>
                </a:solidFill>
              </a:rPr>
              <a:t>Kafka</a:t>
            </a:r>
            <a:r>
              <a:rPr lang="fr" sz="1000">
                <a:solidFill>
                  <a:srgbClr val="000000"/>
                </a:solidFill>
              </a:rPr>
              <a:t> (streaming) → Snowflake </a:t>
            </a:r>
            <a:r>
              <a:rPr b="1" lang="fr" sz="1000">
                <a:solidFill>
                  <a:srgbClr val="000000"/>
                </a:solidFill>
              </a:rPr>
              <a:t>raw_nosql</a:t>
            </a:r>
            <a:r>
              <a:rPr lang="fr" sz="1000">
                <a:solidFill>
                  <a:srgbClr val="000000"/>
                </a:solidFill>
              </a:rPr>
              <a:t> → </a:t>
            </a:r>
            <a:r>
              <a:rPr b="1" lang="fr" sz="1000">
                <a:solidFill>
                  <a:srgbClr val="000000"/>
                </a:solidFill>
              </a:rPr>
              <a:t>dbt</a:t>
            </a:r>
            <a:r>
              <a:rPr lang="fr" sz="1000">
                <a:solidFill>
                  <a:srgbClr val="000000"/>
                </a:solidFill>
              </a:rPr>
              <a:t> (tables analytiques).</a:t>
            </a:r>
            <a:endParaRPr sz="1000">
              <a:solidFill>
                <a:srgbClr val="000000"/>
              </a:solidFill>
            </a:endParaRPr>
          </a:p>
          <a:p>
            <a:pPr indent="0" lvl="0" marL="0" rtl="0" algn="l">
              <a:lnSpc>
                <a:spcPct val="115000"/>
              </a:lnSpc>
              <a:spcBef>
                <a:spcPts val="1400"/>
              </a:spcBef>
              <a:spcAft>
                <a:spcPts val="0"/>
              </a:spcAft>
              <a:buNone/>
            </a:pPr>
            <a:r>
              <a:rPr b="1" lang="fr" sz="1300"/>
              <a:t>Orchestration – Airflow</a:t>
            </a:r>
            <a:endParaRPr b="1" sz="1300"/>
          </a:p>
          <a:p>
            <a:pPr indent="-298450" lvl="0" marL="457200" rtl="0" algn="l">
              <a:lnSpc>
                <a:spcPct val="115000"/>
              </a:lnSpc>
              <a:spcBef>
                <a:spcPts val="1200"/>
              </a:spcBef>
              <a:spcAft>
                <a:spcPts val="0"/>
              </a:spcAft>
              <a:buSzPts val="1100"/>
              <a:buChar char="●"/>
            </a:pPr>
            <a:r>
              <a:rPr lang="fr" sz="1100"/>
              <a:t>Exécute et planifie tous les jobs :</a:t>
            </a:r>
            <a:br>
              <a:rPr lang="fr" sz="1100"/>
            </a:br>
            <a:r>
              <a:rPr lang="fr" sz="1100"/>
              <a:t>	Airbyte (extractions PostgreSQL &amp; MongoDB)</a:t>
            </a:r>
            <a:br>
              <a:rPr lang="fr" sz="1100"/>
            </a:br>
            <a:r>
              <a:rPr lang="fr" sz="1100"/>
              <a:t>	dbt (staging, core, agrégats OLAP)</a:t>
            </a:r>
            <a:br>
              <a:rPr lang="fr" sz="1100"/>
            </a:br>
            <a:r>
              <a:rPr lang="fr" sz="1100"/>
              <a:t>	Tests qualité, volumétrie et rafraichissement de la donnée</a:t>
            </a:r>
            <a:br>
              <a:rPr lang="fr" sz="1100"/>
            </a:br>
            <a:r>
              <a:rPr lang="fr" sz="1100"/>
              <a:t>	Notifications de succès / échec</a:t>
            </a:r>
            <a:br>
              <a:rPr lang="fr" sz="1100"/>
            </a:br>
            <a:endParaRPr sz="1100"/>
          </a:p>
          <a:p>
            <a:pPr indent="-298450" lvl="0" marL="457200" rtl="0" algn="l">
              <a:lnSpc>
                <a:spcPct val="115000"/>
              </a:lnSpc>
              <a:spcBef>
                <a:spcPts val="0"/>
              </a:spcBef>
              <a:spcAft>
                <a:spcPts val="0"/>
              </a:spcAft>
              <a:buSzPts val="1100"/>
              <a:buChar char="●"/>
            </a:pPr>
            <a:r>
              <a:rPr lang="fr" sz="1100"/>
              <a:t>Garantit la </a:t>
            </a:r>
            <a:r>
              <a:rPr b="1" lang="fr" sz="1100"/>
              <a:t>traçabilité</a:t>
            </a:r>
            <a:r>
              <a:rPr lang="fr" sz="1100"/>
              <a:t>, la </a:t>
            </a:r>
            <a:r>
              <a:rPr b="1" lang="fr" sz="1100"/>
              <a:t>reprise sur erreur</a:t>
            </a:r>
            <a:r>
              <a:rPr lang="fr" sz="1100"/>
              <a:t> et la </a:t>
            </a:r>
            <a:r>
              <a:rPr b="1" lang="fr" sz="1100"/>
              <a:t>supervision des dépendances</a:t>
            </a:r>
            <a:r>
              <a:rPr lang="fr" sz="1100"/>
              <a:t>.</a:t>
            </a:r>
            <a:br>
              <a:rPr lang="fr" sz="1100"/>
            </a:br>
            <a:endParaRPr sz="1100"/>
          </a:p>
          <a:p>
            <a:pPr indent="0" lvl="0" marL="0" rtl="0" algn="l">
              <a:lnSpc>
                <a:spcPct val="115000"/>
              </a:lnSpc>
              <a:spcBef>
                <a:spcPts val="1200"/>
              </a:spcBef>
              <a:spcAft>
                <a:spcPts val="0"/>
              </a:spcAft>
              <a:buNone/>
            </a:pPr>
            <a:br>
              <a:rPr lang="fr" sz="1100"/>
            </a:br>
            <a:endParaRPr sz="1100"/>
          </a:p>
          <a:p>
            <a:pPr indent="0" lvl="0" marL="457200" rtl="0" algn="l">
              <a:lnSpc>
                <a:spcPct val="115000"/>
              </a:lnSpc>
              <a:spcBef>
                <a:spcPts val="1200"/>
              </a:spcBef>
              <a:spcAft>
                <a:spcPts val="0"/>
              </a:spcAft>
              <a:buNone/>
            </a:pPr>
            <a:br>
              <a:rPr lang="fr" sz="1100"/>
            </a:br>
            <a:endParaRPr sz="1100"/>
          </a:p>
          <a:p>
            <a:pPr indent="0" lvl="0" marL="0" rtl="0" algn="l">
              <a:lnSpc>
                <a:spcPct val="115000"/>
              </a:lnSpc>
              <a:spcBef>
                <a:spcPts val="1200"/>
              </a:spcBef>
              <a:spcAft>
                <a:spcPts val="0"/>
              </a:spcAft>
              <a:buNone/>
            </a:pPr>
            <a:r>
              <a:t/>
            </a:r>
            <a:endParaRPr sz="1100"/>
          </a:p>
          <a:p>
            <a:pPr indent="0" lvl="0" marL="457200" rtl="0" algn="l">
              <a:lnSpc>
                <a:spcPct val="115000"/>
              </a:lnSpc>
              <a:spcBef>
                <a:spcPts val="1200"/>
              </a:spcBef>
              <a:spcAft>
                <a:spcPts val="0"/>
              </a:spcAft>
              <a:buNone/>
            </a:pPr>
            <a:r>
              <a:t/>
            </a:r>
            <a:endParaRPr sz="1000">
              <a:solidFill>
                <a:srgbClr val="4B5258"/>
              </a:solidFill>
              <a:latin typeface="Inter Medium"/>
              <a:ea typeface="Inter Medium"/>
              <a:cs typeface="Inter Medium"/>
              <a:sym typeface="Inter Medium"/>
            </a:endParaRPr>
          </a:p>
        </p:txBody>
      </p:sp>
      <p:pic>
        <p:nvPicPr>
          <p:cNvPr id="151" name="Google Shape;151;g3a1fa3a7511_0_52"/>
          <p:cNvPicPr preferRelativeResize="0"/>
          <p:nvPr/>
        </p:nvPicPr>
        <p:blipFill rotWithShape="1">
          <a:blip r:embed="rId3">
            <a:alphaModFix/>
          </a:blip>
          <a:srcRect b="0" l="0" r="0" t="0"/>
          <a:stretch/>
        </p:blipFill>
        <p:spPr>
          <a:xfrm>
            <a:off x="0" y="2"/>
            <a:ext cx="576900" cy="38590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a1fa3a7511_0_35"/>
          <p:cNvSpPr txBox="1"/>
          <p:nvPr>
            <p:ph idx="4294967295" type="ctrTitle"/>
          </p:nvPr>
        </p:nvSpPr>
        <p:spPr>
          <a:xfrm>
            <a:off x="1192678" y="0"/>
            <a:ext cx="6846600" cy="5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fr" sz="1700"/>
              <a:t>Data Pipeline Architecture</a:t>
            </a:r>
            <a:endParaRPr b="1" i="0" sz="25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2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40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sp>
        <p:nvSpPr>
          <p:cNvPr id="157" name="Google Shape;157;g3a1fa3a7511_0_35"/>
          <p:cNvSpPr txBox="1"/>
          <p:nvPr>
            <p:ph idx="4294967295" type="ctrTitle"/>
          </p:nvPr>
        </p:nvSpPr>
        <p:spPr>
          <a:xfrm>
            <a:off x="0" y="385900"/>
            <a:ext cx="9144000" cy="475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fr" sz="1300"/>
              <a:t>Synchronisation &amp; Cohérence</a:t>
            </a:r>
            <a:endParaRPr b="1" sz="1300"/>
          </a:p>
          <a:p>
            <a:pPr indent="-298450" lvl="0" marL="457200" rtl="0" algn="l">
              <a:lnSpc>
                <a:spcPct val="115000"/>
              </a:lnSpc>
              <a:spcBef>
                <a:spcPts val="1200"/>
              </a:spcBef>
              <a:spcAft>
                <a:spcPts val="0"/>
              </a:spcAft>
              <a:buSzPts val="1100"/>
              <a:buChar char="●"/>
            </a:pPr>
            <a:r>
              <a:rPr b="1" lang="fr" sz="1100"/>
              <a:t>CDC (Change Data Capture)</a:t>
            </a:r>
            <a:r>
              <a:rPr lang="fr" sz="1100"/>
              <a:t> → mise à jour quasi temps réel depuis PostgreSQL.</a:t>
            </a:r>
            <a:endParaRPr sz="1100"/>
          </a:p>
          <a:p>
            <a:pPr indent="-298450" lvl="0" marL="457200" rtl="0" algn="l">
              <a:lnSpc>
                <a:spcPct val="115000"/>
              </a:lnSpc>
              <a:spcBef>
                <a:spcPts val="0"/>
              </a:spcBef>
              <a:spcAft>
                <a:spcPts val="0"/>
              </a:spcAft>
              <a:buSzPts val="1100"/>
              <a:buChar char="●"/>
            </a:pPr>
            <a:r>
              <a:rPr b="1" lang="fr" sz="1100"/>
              <a:t>Micro-batchs ou Kafka</a:t>
            </a:r>
            <a:r>
              <a:rPr lang="fr" sz="1100"/>
              <a:t> pour MongoDB (fraude, monitoring).</a:t>
            </a:r>
            <a:endParaRPr sz="1100"/>
          </a:p>
          <a:p>
            <a:pPr indent="-298450" lvl="0" marL="457200" rtl="0" algn="l">
              <a:lnSpc>
                <a:spcPct val="115000"/>
              </a:lnSpc>
              <a:spcBef>
                <a:spcPts val="0"/>
              </a:spcBef>
              <a:spcAft>
                <a:spcPts val="0"/>
              </a:spcAft>
              <a:buSzPts val="1100"/>
              <a:buChar char="●"/>
            </a:pPr>
            <a:r>
              <a:rPr lang="fr" sz="1100"/>
              <a:t>Cohérence assurée via les </a:t>
            </a:r>
            <a:r>
              <a:rPr b="1" lang="fr" sz="1100"/>
              <a:t>clés métiers communes</a:t>
            </a:r>
            <a:r>
              <a:rPr lang="fr" sz="1100"/>
              <a:t> (customer_id, merchant_id, payment_id) et l’alignement temporel.</a:t>
            </a:r>
            <a:endParaRPr sz="1100"/>
          </a:p>
          <a:p>
            <a:pPr indent="0" lvl="0" marL="0" rtl="0" algn="l">
              <a:lnSpc>
                <a:spcPct val="115000"/>
              </a:lnSpc>
              <a:spcBef>
                <a:spcPts val="1400"/>
              </a:spcBef>
              <a:spcAft>
                <a:spcPts val="0"/>
              </a:spcAft>
              <a:buNone/>
            </a:pPr>
            <a:r>
              <a:rPr b="1" lang="fr" sz="1300"/>
              <a:t>Outils &amp; Technologies</a:t>
            </a:r>
            <a:endParaRPr b="1" sz="1300"/>
          </a:p>
          <a:p>
            <a:pPr indent="0" lvl="0" marL="457200" rtl="0" algn="l">
              <a:lnSpc>
                <a:spcPct val="115000"/>
              </a:lnSpc>
              <a:spcBef>
                <a:spcPts val="1200"/>
              </a:spcBef>
              <a:spcAft>
                <a:spcPts val="0"/>
              </a:spcAft>
              <a:buNone/>
            </a:pPr>
            <a:br>
              <a:rPr lang="fr" sz="1100"/>
            </a:br>
            <a:endParaRPr sz="1100"/>
          </a:p>
          <a:p>
            <a:pPr indent="0" lvl="0" marL="0" rtl="0" algn="l">
              <a:lnSpc>
                <a:spcPct val="115000"/>
              </a:lnSpc>
              <a:spcBef>
                <a:spcPts val="1200"/>
              </a:spcBef>
              <a:spcAft>
                <a:spcPts val="0"/>
              </a:spcAft>
              <a:buNone/>
            </a:pPr>
            <a:r>
              <a:t/>
            </a:r>
            <a:endParaRPr b="1" sz="1300"/>
          </a:p>
          <a:p>
            <a:pPr indent="0" lvl="0" marL="457200" rtl="0" algn="l">
              <a:lnSpc>
                <a:spcPct val="115000"/>
              </a:lnSpc>
              <a:spcBef>
                <a:spcPts val="1200"/>
              </a:spcBef>
              <a:spcAft>
                <a:spcPts val="0"/>
              </a:spcAft>
              <a:buNone/>
            </a:pPr>
            <a:br>
              <a:rPr lang="fr" sz="1100"/>
            </a:br>
            <a:endParaRPr sz="1100"/>
          </a:p>
          <a:p>
            <a:pPr indent="0" lvl="0" marL="0" rtl="0" algn="l">
              <a:lnSpc>
                <a:spcPct val="115000"/>
              </a:lnSpc>
              <a:spcBef>
                <a:spcPts val="1200"/>
              </a:spcBef>
              <a:spcAft>
                <a:spcPts val="0"/>
              </a:spcAft>
              <a:buNone/>
            </a:pPr>
            <a:r>
              <a:t/>
            </a:r>
            <a:endParaRPr sz="1100"/>
          </a:p>
          <a:p>
            <a:pPr indent="0" lvl="0" marL="457200" rtl="0" algn="l">
              <a:lnSpc>
                <a:spcPct val="115000"/>
              </a:lnSpc>
              <a:spcBef>
                <a:spcPts val="1200"/>
              </a:spcBef>
              <a:spcAft>
                <a:spcPts val="0"/>
              </a:spcAft>
              <a:buNone/>
            </a:pPr>
            <a:r>
              <a:t/>
            </a:r>
            <a:endParaRPr sz="1000">
              <a:solidFill>
                <a:srgbClr val="4B5258"/>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000">
              <a:solidFill>
                <a:srgbClr val="4B5258"/>
              </a:solidFill>
              <a:latin typeface="Inter Medium"/>
              <a:ea typeface="Inter Medium"/>
              <a:cs typeface="Inter Medium"/>
              <a:sym typeface="Inter Medium"/>
            </a:endParaRPr>
          </a:p>
          <a:p>
            <a:pPr indent="0" lvl="0" marL="0" rtl="0" algn="l">
              <a:lnSpc>
                <a:spcPct val="115000"/>
              </a:lnSpc>
              <a:spcBef>
                <a:spcPts val="1400"/>
              </a:spcBef>
              <a:spcAft>
                <a:spcPts val="0"/>
              </a:spcAft>
              <a:buClr>
                <a:schemeClr val="dk1"/>
              </a:buClr>
              <a:buSzPts val="1100"/>
              <a:buFont typeface="Arial"/>
              <a:buNone/>
            </a:pPr>
            <a:r>
              <a:rPr b="1" lang="fr" sz="1300"/>
              <a:t>Bénéfices</a:t>
            </a:r>
            <a:endParaRPr b="1" sz="1300"/>
          </a:p>
          <a:p>
            <a:pPr indent="0" lvl="0" marL="139700" rtl="0" algn="l">
              <a:lnSpc>
                <a:spcPct val="115000"/>
              </a:lnSpc>
              <a:spcBef>
                <a:spcPts val="400"/>
              </a:spcBef>
              <a:spcAft>
                <a:spcPts val="0"/>
              </a:spcAft>
              <a:buClr>
                <a:schemeClr val="dk1"/>
              </a:buClr>
              <a:buSzPts val="1100"/>
              <a:buFont typeface="Arial"/>
              <a:buNone/>
            </a:pPr>
            <a:r>
              <a:rPr lang="fr" sz="1050">
                <a:solidFill>
                  <a:srgbClr val="0E0E0E"/>
                </a:solidFill>
              </a:rPr>
              <a:t>Pipeline modulaire, scalable et gouverné.</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fr" sz="1050">
                <a:solidFill>
                  <a:srgbClr val="0E0E0E"/>
                </a:solidFill>
              </a:rPr>
              <a:t>Garantit la fraîcheur, la cohérence et la traçabilité des données pour l’analyse, la conformité et l’IA.</a:t>
            </a:r>
            <a:endParaRPr sz="1050">
              <a:solidFill>
                <a:srgbClr val="0E0E0E"/>
              </a:solidFill>
            </a:endParaRPr>
          </a:p>
          <a:p>
            <a:pPr indent="0" lvl="0" marL="0" rtl="0" algn="l">
              <a:lnSpc>
                <a:spcPct val="115000"/>
              </a:lnSpc>
              <a:spcBef>
                <a:spcPts val="0"/>
              </a:spcBef>
              <a:spcAft>
                <a:spcPts val="0"/>
              </a:spcAft>
              <a:buNone/>
            </a:pPr>
            <a:r>
              <a:t/>
            </a:r>
            <a:endParaRPr sz="1000">
              <a:solidFill>
                <a:srgbClr val="4B5258"/>
              </a:solidFill>
              <a:latin typeface="Inter Medium"/>
              <a:ea typeface="Inter Medium"/>
              <a:cs typeface="Inter Medium"/>
              <a:sym typeface="Inter Medium"/>
            </a:endParaRPr>
          </a:p>
        </p:txBody>
      </p:sp>
      <p:pic>
        <p:nvPicPr>
          <p:cNvPr id="158" name="Google Shape;158;g3a1fa3a7511_0_35"/>
          <p:cNvPicPr preferRelativeResize="0"/>
          <p:nvPr/>
        </p:nvPicPr>
        <p:blipFill rotWithShape="1">
          <a:blip r:embed="rId3">
            <a:alphaModFix/>
          </a:blip>
          <a:srcRect b="0" l="0" r="0" t="0"/>
          <a:stretch/>
        </p:blipFill>
        <p:spPr>
          <a:xfrm>
            <a:off x="0" y="2"/>
            <a:ext cx="576900" cy="385904"/>
          </a:xfrm>
          <a:prstGeom prst="rect">
            <a:avLst/>
          </a:prstGeom>
          <a:noFill/>
          <a:ln>
            <a:noFill/>
          </a:ln>
        </p:spPr>
      </p:pic>
      <p:graphicFrame>
        <p:nvGraphicFramePr>
          <p:cNvPr id="159" name="Google Shape;159;g3a1fa3a7511_0_35"/>
          <p:cNvGraphicFramePr/>
          <p:nvPr/>
        </p:nvGraphicFramePr>
        <p:xfrm>
          <a:off x="281275" y="1858375"/>
          <a:ext cx="3000000" cy="3000000"/>
        </p:xfrm>
        <a:graphic>
          <a:graphicData uri="http://schemas.openxmlformats.org/drawingml/2006/table">
            <a:tbl>
              <a:tblPr>
                <a:noFill/>
                <a:tableStyleId>{7E6B49BF-D7DE-49C0-A12C-EF09482CAE8A}</a:tableStyleId>
              </a:tblPr>
              <a:tblGrid>
                <a:gridCol w="2413000"/>
                <a:gridCol w="2413000"/>
                <a:gridCol w="2719400"/>
              </a:tblGrid>
              <a:tr h="304975">
                <a:tc>
                  <a:txBody>
                    <a:bodyPr/>
                    <a:lstStyle/>
                    <a:p>
                      <a:pPr indent="0" lvl="0" marL="0" rtl="0" algn="ctr">
                        <a:lnSpc>
                          <a:spcPct val="115000"/>
                        </a:lnSpc>
                        <a:spcBef>
                          <a:spcPts val="1200"/>
                        </a:spcBef>
                        <a:spcAft>
                          <a:spcPts val="1200"/>
                        </a:spcAft>
                        <a:buNone/>
                      </a:pPr>
                      <a:r>
                        <a:rPr b="1" lang="fr" sz="800"/>
                        <a:t>Fonction</a:t>
                      </a:r>
                      <a:endParaRPr b="1" sz="800"/>
                    </a:p>
                  </a:txBody>
                  <a:tcPr marT="91425" marB="91425" marR="91425" marL="91425"/>
                </a:tc>
                <a:tc>
                  <a:txBody>
                    <a:bodyPr/>
                    <a:lstStyle/>
                    <a:p>
                      <a:pPr indent="0" lvl="0" marL="0" rtl="0" algn="ctr">
                        <a:lnSpc>
                          <a:spcPct val="115000"/>
                        </a:lnSpc>
                        <a:spcBef>
                          <a:spcPts val="1200"/>
                        </a:spcBef>
                        <a:spcAft>
                          <a:spcPts val="1200"/>
                        </a:spcAft>
                        <a:buNone/>
                      </a:pPr>
                      <a:r>
                        <a:rPr b="1" lang="fr" sz="800"/>
                        <a:t>Outil</a:t>
                      </a:r>
                      <a:endParaRPr b="1" sz="800"/>
                    </a:p>
                  </a:txBody>
                  <a:tcPr marT="91425" marB="91425" marR="91425" marL="91425"/>
                </a:tc>
                <a:tc>
                  <a:txBody>
                    <a:bodyPr/>
                    <a:lstStyle/>
                    <a:p>
                      <a:pPr indent="0" lvl="0" marL="0" rtl="0" algn="ctr">
                        <a:lnSpc>
                          <a:spcPct val="115000"/>
                        </a:lnSpc>
                        <a:spcBef>
                          <a:spcPts val="1200"/>
                        </a:spcBef>
                        <a:spcAft>
                          <a:spcPts val="1200"/>
                        </a:spcAft>
                        <a:buNone/>
                      </a:pPr>
                      <a:r>
                        <a:rPr b="1" lang="fr" sz="800"/>
                        <a:t>Rôle</a:t>
                      </a:r>
                      <a:endParaRPr b="1" sz="800"/>
                    </a:p>
                  </a:txBody>
                  <a:tcPr marT="91425" marB="91425" marR="91425" marL="91425"/>
                </a:tc>
              </a:tr>
              <a:tr h="304975">
                <a:tc>
                  <a:txBody>
                    <a:bodyPr/>
                    <a:lstStyle/>
                    <a:p>
                      <a:pPr indent="0" lvl="0" marL="0" rtl="0" algn="l">
                        <a:lnSpc>
                          <a:spcPct val="115000"/>
                        </a:lnSpc>
                        <a:spcBef>
                          <a:spcPts val="1200"/>
                        </a:spcBef>
                        <a:spcAft>
                          <a:spcPts val="1200"/>
                        </a:spcAft>
                        <a:buNone/>
                      </a:pPr>
                      <a:r>
                        <a:rPr lang="fr" sz="800"/>
                        <a:t>I</a:t>
                      </a:r>
                      <a:r>
                        <a:rPr lang="fr" sz="800"/>
                        <a:t>ngestion</a:t>
                      </a:r>
                      <a:endParaRPr sz="800"/>
                    </a:p>
                  </a:txBody>
                  <a:tcPr marT="91425" marB="91425" marR="91425" marL="91425"/>
                </a:tc>
                <a:tc>
                  <a:txBody>
                    <a:bodyPr/>
                    <a:lstStyle/>
                    <a:p>
                      <a:pPr indent="0" lvl="0" marL="0" rtl="0" algn="l">
                        <a:lnSpc>
                          <a:spcPct val="115000"/>
                        </a:lnSpc>
                        <a:spcBef>
                          <a:spcPts val="1200"/>
                        </a:spcBef>
                        <a:spcAft>
                          <a:spcPts val="1200"/>
                        </a:spcAft>
                        <a:buNone/>
                      </a:pPr>
                      <a:r>
                        <a:rPr b="1" lang="fr" sz="800"/>
                        <a:t>Airbyte</a:t>
                      </a:r>
                      <a:endParaRPr b="1" sz="800"/>
                    </a:p>
                  </a:txBody>
                  <a:tcPr marT="91425" marB="91425" marR="91425" marL="91425"/>
                </a:tc>
                <a:tc>
                  <a:txBody>
                    <a:bodyPr/>
                    <a:lstStyle/>
                    <a:p>
                      <a:pPr indent="0" lvl="0" marL="0" rtl="0" algn="l">
                        <a:lnSpc>
                          <a:spcPct val="115000"/>
                        </a:lnSpc>
                        <a:spcBef>
                          <a:spcPts val="1200"/>
                        </a:spcBef>
                        <a:spcAft>
                          <a:spcPts val="1200"/>
                        </a:spcAft>
                        <a:buNone/>
                      </a:pPr>
                      <a:r>
                        <a:rPr lang="fr" sz="800"/>
                        <a:t>Connecteurs PostgreSQL &amp; MongoDB (batch / CDC).</a:t>
                      </a:r>
                      <a:endParaRPr sz="800"/>
                    </a:p>
                  </a:txBody>
                  <a:tcPr marT="91425" marB="91425" marR="91425" marL="91425"/>
                </a:tc>
              </a:tr>
              <a:tr h="304975">
                <a:tc>
                  <a:txBody>
                    <a:bodyPr/>
                    <a:lstStyle/>
                    <a:p>
                      <a:pPr indent="0" lvl="0" marL="0" rtl="0" algn="l">
                        <a:lnSpc>
                          <a:spcPct val="115000"/>
                        </a:lnSpc>
                        <a:spcBef>
                          <a:spcPts val="1200"/>
                        </a:spcBef>
                        <a:spcAft>
                          <a:spcPts val="1200"/>
                        </a:spcAft>
                        <a:buNone/>
                      </a:pPr>
                      <a:r>
                        <a:rPr lang="fr" sz="800"/>
                        <a:t>Transformation</a:t>
                      </a:r>
                      <a:endParaRPr sz="800"/>
                    </a:p>
                  </a:txBody>
                  <a:tcPr marT="91425" marB="91425" marR="91425" marL="91425"/>
                </a:tc>
                <a:tc>
                  <a:txBody>
                    <a:bodyPr/>
                    <a:lstStyle/>
                    <a:p>
                      <a:pPr indent="0" lvl="0" marL="0" rtl="0" algn="l">
                        <a:lnSpc>
                          <a:spcPct val="115000"/>
                        </a:lnSpc>
                        <a:spcBef>
                          <a:spcPts val="1200"/>
                        </a:spcBef>
                        <a:spcAft>
                          <a:spcPts val="1200"/>
                        </a:spcAft>
                        <a:buNone/>
                      </a:pPr>
                      <a:r>
                        <a:rPr b="1" lang="fr" sz="800"/>
                        <a:t>dbt Core</a:t>
                      </a:r>
                      <a:endParaRPr b="1" sz="800"/>
                    </a:p>
                  </a:txBody>
                  <a:tcPr marT="91425" marB="91425" marR="91425" marL="91425"/>
                </a:tc>
                <a:tc>
                  <a:txBody>
                    <a:bodyPr/>
                    <a:lstStyle/>
                    <a:p>
                      <a:pPr indent="0" lvl="0" marL="0" rtl="0" algn="l">
                        <a:lnSpc>
                          <a:spcPct val="115000"/>
                        </a:lnSpc>
                        <a:spcBef>
                          <a:spcPts val="1200"/>
                        </a:spcBef>
                        <a:spcAft>
                          <a:spcPts val="1200"/>
                        </a:spcAft>
                        <a:buNone/>
                      </a:pPr>
                      <a:r>
                        <a:rPr lang="fr" sz="800"/>
                        <a:t>Modèles SQL, tests, SCD Type 2.</a:t>
                      </a:r>
                      <a:endParaRPr sz="800"/>
                    </a:p>
                  </a:txBody>
                  <a:tcPr marT="91425" marB="91425" marR="91425" marL="91425"/>
                </a:tc>
              </a:tr>
              <a:tr h="304975">
                <a:tc>
                  <a:txBody>
                    <a:bodyPr/>
                    <a:lstStyle/>
                    <a:p>
                      <a:pPr indent="0" lvl="0" marL="0" rtl="0" algn="l">
                        <a:lnSpc>
                          <a:spcPct val="115000"/>
                        </a:lnSpc>
                        <a:spcBef>
                          <a:spcPts val="1200"/>
                        </a:spcBef>
                        <a:spcAft>
                          <a:spcPts val="1200"/>
                        </a:spcAft>
                        <a:buNone/>
                      </a:pPr>
                      <a:r>
                        <a:rPr lang="fr" sz="800"/>
                        <a:t>Orchestration</a:t>
                      </a:r>
                      <a:endParaRPr sz="800"/>
                    </a:p>
                  </a:txBody>
                  <a:tcPr marT="91425" marB="91425" marR="91425" marL="91425"/>
                </a:tc>
                <a:tc>
                  <a:txBody>
                    <a:bodyPr/>
                    <a:lstStyle/>
                    <a:p>
                      <a:pPr indent="0" lvl="0" marL="0" rtl="0" algn="l">
                        <a:lnSpc>
                          <a:spcPct val="115000"/>
                        </a:lnSpc>
                        <a:spcBef>
                          <a:spcPts val="1200"/>
                        </a:spcBef>
                        <a:spcAft>
                          <a:spcPts val="1200"/>
                        </a:spcAft>
                        <a:buNone/>
                      </a:pPr>
                      <a:r>
                        <a:rPr b="1" lang="fr" sz="800"/>
                        <a:t>Airflow</a:t>
                      </a:r>
                      <a:endParaRPr b="1" sz="800"/>
                    </a:p>
                  </a:txBody>
                  <a:tcPr marT="91425" marB="91425" marR="91425" marL="91425"/>
                </a:tc>
                <a:tc>
                  <a:txBody>
                    <a:bodyPr/>
                    <a:lstStyle/>
                    <a:p>
                      <a:pPr indent="0" lvl="0" marL="0" rtl="0" algn="l">
                        <a:lnSpc>
                          <a:spcPct val="115000"/>
                        </a:lnSpc>
                        <a:spcBef>
                          <a:spcPts val="1200"/>
                        </a:spcBef>
                        <a:spcAft>
                          <a:spcPts val="1200"/>
                        </a:spcAft>
                        <a:buNone/>
                      </a:pPr>
                      <a:r>
                        <a:rPr lang="fr" sz="800"/>
                        <a:t>DAGs programmés, monitoring.</a:t>
                      </a:r>
                      <a:endParaRPr sz="800"/>
                    </a:p>
                  </a:txBody>
                  <a:tcPr marT="91425" marB="91425" marR="91425" marL="91425"/>
                </a:tc>
              </a:tr>
              <a:tr h="304975">
                <a:tc>
                  <a:txBody>
                    <a:bodyPr/>
                    <a:lstStyle/>
                    <a:p>
                      <a:pPr indent="0" lvl="0" marL="0" rtl="0" algn="l">
                        <a:lnSpc>
                          <a:spcPct val="115000"/>
                        </a:lnSpc>
                        <a:spcBef>
                          <a:spcPts val="1200"/>
                        </a:spcBef>
                        <a:spcAft>
                          <a:spcPts val="1200"/>
                        </a:spcAft>
                        <a:buNone/>
                      </a:pPr>
                      <a:r>
                        <a:rPr lang="fr" sz="800"/>
                        <a:t>OLAP</a:t>
                      </a:r>
                      <a:endParaRPr sz="800"/>
                    </a:p>
                  </a:txBody>
                  <a:tcPr marT="91425" marB="91425" marR="91425" marL="91425"/>
                </a:tc>
                <a:tc>
                  <a:txBody>
                    <a:bodyPr/>
                    <a:lstStyle/>
                    <a:p>
                      <a:pPr indent="0" lvl="0" marL="0" rtl="0" algn="l">
                        <a:lnSpc>
                          <a:spcPct val="115000"/>
                        </a:lnSpc>
                        <a:spcBef>
                          <a:spcPts val="1200"/>
                        </a:spcBef>
                        <a:spcAft>
                          <a:spcPts val="1200"/>
                        </a:spcAft>
                        <a:buNone/>
                      </a:pPr>
                      <a:r>
                        <a:rPr b="1" lang="fr" sz="800"/>
                        <a:t>Snowflake</a:t>
                      </a:r>
                      <a:endParaRPr b="1" sz="800"/>
                    </a:p>
                  </a:txBody>
                  <a:tcPr marT="91425" marB="91425" marR="91425" marL="91425"/>
                </a:tc>
                <a:tc>
                  <a:txBody>
                    <a:bodyPr/>
                    <a:lstStyle/>
                    <a:p>
                      <a:pPr indent="0" lvl="0" marL="0" rtl="0" algn="l">
                        <a:lnSpc>
                          <a:spcPct val="115000"/>
                        </a:lnSpc>
                        <a:spcBef>
                          <a:spcPts val="1200"/>
                        </a:spcBef>
                        <a:spcAft>
                          <a:spcPts val="1200"/>
                        </a:spcAft>
                        <a:buNone/>
                      </a:pPr>
                      <a:r>
                        <a:rPr lang="fr" sz="800"/>
                        <a:t>Stockage scalable – RAW / STAGING / CORE / MART.</a:t>
                      </a:r>
                      <a:endParaRPr sz="800"/>
                    </a:p>
                  </a:txBody>
                  <a:tcPr marT="91425" marB="91425" marR="91425" marL="91425"/>
                </a:tc>
              </a:tr>
              <a:tr h="304975">
                <a:tc>
                  <a:txBody>
                    <a:bodyPr/>
                    <a:lstStyle/>
                    <a:p>
                      <a:pPr indent="0" lvl="0" marL="0" rtl="0" algn="l">
                        <a:lnSpc>
                          <a:spcPct val="115000"/>
                        </a:lnSpc>
                        <a:spcBef>
                          <a:spcPts val="1200"/>
                        </a:spcBef>
                        <a:spcAft>
                          <a:spcPts val="1200"/>
                        </a:spcAft>
                        <a:buNone/>
                      </a:pPr>
                      <a:r>
                        <a:rPr lang="fr" sz="800"/>
                        <a:t>OLTP</a:t>
                      </a:r>
                      <a:endParaRPr sz="800"/>
                    </a:p>
                  </a:txBody>
                  <a:tcPr marT="91425" marB="91425" marR="91425" marL="91425"/>
                </a:tc>
                <a:tc>
                  <a:txBody>
                    <a:bodyPr/>
                    <a:lstStyle/>
                    <a:p>
                      <a:pPr indent="0" lvl="0" marL="0" rtl="0" algn="l">
                        <a:lnSpc>
                          <a:spcPct val="115000"/>
                        </a:lnSpc>
                        <a:spcBef>
                          <a:spcPts val="1200"/>
                        </a:spcBef>
                        <a:spcAft>
                          <a:spcPts val="1200"/>
                        </a:spcAft>
                        <a:buNone/>
                      </a:pPr>
                      <a:r>
                        <a:rPr b="1" lang="fr" sz="800"/>
                        <a:t>PostgreSQL (RDS)</a:t>
                      </a:r>
                      <a:endParaRPr b="1" sz="800"/>
                    </a:p>
                  </a:txBody>
                  <a:tcPr marT="91425" marB="91425" marR="91425" marL="91425"/>
                </a:tc>
                <a:tc>
                  <a:txBody>
                    <a:bodyPr/>
                    <a:lstStyle/>
                    <a:p>
                      <a:pPr indent="0" lvl="0" marL="0" rtl="0" algn="l">
                        <a:lnSpc>
                          <a:spcPct val="115000"/>
                        </a:lnSpc>
                        <a:spcBef>
                          <a:spcPts val="1200"/>
                        </a:spcBef>
                        <a:spcAft>
                          <a:spcPts val="1200"/>
                        </a:spcAft>
                        <a:buNone/>
                      </a:pPr>
                      <a:r>
                        <a:rPr lang="fr" sz="800"/>
                        <a:t>Données transactionnelles Stripe.</a:t>
                      </a:r>
                      <a:endParaRPr sz="800"/>
                    </a:p>
                  </a:txBody>
                  <a:tcPr marT="91425" marB="91425" marR="91425" marL="91425"/>
                </a:tc>
              </a:tr>
              <a:tr h="304975">
                <a:tc>
                  <a:txBody>
                    <a:bodyPr/>
                    <a:lstStyle/>
                    <a:p>
                      <a:pPr indent="0" lvl="0" marL="0" rtl="0" algn="l">
                        <a:lnSpc>
                          <a:spcPct val="115000"/>
                        </a:lnSpc>
                        <a:spcBef>
                          <a:spcPts val="1200"/>
                        </a:spcBef>
                        <a:spcAft>
                          <a:spcPts val="1200"/>
                        </a:spcAft>
                        <a:buNone/>
                      </a:pPr>
                      <a:r>
                        <a:rPr lang="fr" sz="800"/>
                        <a:t>NoSQL</a:t>
                      </a:r>
                      <a:endParaRPr sz="800"/>
                    </a:p>
                  </a:txBody>
                  <a:tcPr marT="91425" marB="91425" marR="91425" marL="91425"/>
                </a:tc>
                <a:tc>
                  <a:txBody>
                    <a:bodyPr/>
                    <a:lstStyle/>
                    <a:p>
                      <a:pPr indent="0" lvl="0" marL="0" rtl="0" algn="l">
                        <a:lnSpc>
                          <a:spcPct val="115000"/>
                        </a:lnSpc>
                        <a:spcBef>
                          <a:spcPts val="1200"/>
                        </a:spcBef>
                        <a:spcAft>
                          <a:spcPts val="1200"/>
                        </a:spcAft>
                        <a:buNone/>
                      </a:pPr>
                      <a:r>
                        <a:rPr b="1" lang="fr" sz="800"/>
                        <a:t>MongoDB Atlas</a:t>
                      </a:r>
                      <a:endParaRPr b="1" sz="800"/>
                    </a:p>
                  </a:txBody>
                  <a:tcPr marT="91425" marB="91425" marR="91425" marL="91425"/>
                </a:tc>
                <a:tc>
                  <a:txBody>
                    <a:bodyPr/>
                    <a:lstStyle/>
                    <a:p>
                      <a:pPr indent="0" lvl="0" marL="0" rtl="0" algn="l">
                        <a:lnSpc>
                          <a:spcPct val="115000"/>
                        </a:lnSpc>
                        <a:spcBef>
                          <a:spcPts val="1200"/>
                        </a:spcBef>
                        <a:spcAft>
                          <a:spcPts val="1200"/>
                        </a:spcAft>
                        <a:buNone/>
                      </a:pPr>
                      <a:r>
                        <a:rPr lang="fr" sz="800"/>
                        <a:t>Logs, sessions, feedback, features ML.</a:t>
                      </a:r>
                      <a:endParaRPr sz="800"/>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4FF"/>
        </a:solidFill>
      </p:bgPr>
    </p:bg>
    <p:spTree>
      <p:nvGrpSpPr>
        <p:cNvPr id="163" name="Shape 163"/>
        <p:cNvGrpSpPr/>
        <p:nvPr/>
      </p:nvGrpSpPr>
      <p:grpSpPr>
        <a:xfrm>
          <a:off x="0" y="0"/>
          <a:ext cx="0" cy="0"/>
          <a:chOff x="0" y="0"/>
          <a:chExt cx="0" cy="0"/>
        </a:xfrm>
      </p:grpSpPr>
      <p:sp>
        <p:nvSpPr>
          <p:cNvPr id="164" name="Google Shape;164;g3a1fa3a7511_0_47"/>
          <p:cNvSpPr txBox="1"/>
          <p:nvPr>
            <p:ph idx="4294967295" type="ctrTitle"/>
          </p:nvPr>
        </p:nvSpPr>
        <p:spPr>
          <a:xfrm>
            <a:off x="404075" y="1666825"/>
            <a:ext cx="8553000" cy="78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fr" sz="2400"/>
              <a:t>Security and Compliance Plan</a:t>
            </a:r>
            <a:endParaRPr b="1" sz="2400"/>
          </a:p>
          <a:p>
            <a:pPr indent="0" lvl="0" marL="0" rtl="0" algn="l">
              <a:lnSpc>
                <a:spcPct val="115000"/>
              </a:lnSpc>
              <a:spcBef>
                <a:spcPts val="300"/>
              </a:spcBef>
              <a:spcAft>
                <a:spcPts val="0"/>
              </a:spcAft>
              <a:buClr>
                <a:schemeClr val="dk1"/>
              </a:buClr>
              <a:buSzPts val="1100"/>
              <a:buFont typeface="Arial"/>
              <a:buNone/>
            </a:pPr>
            <a:r>
              <a:t/>
            </a:r>
            <a:endParaRPr b="1" i="0" sz="5500" u="none" cap="none" strike="noStrike">
              <a:solidFill>
                <a:srgbClr val="0E3449"/>
              </a:solidFill>
              <a:latin typeface="Inter"/>
              <a:ea typeface="Inter"/>
              <a:cs typeface="Inter"/>
              <a:sym typeface="Inter"/>
            </a:endParaRPr>
          </a:p>
          <a:p>
            <a:pPr indent="0" lvl="0" marL="0" marR="0" rtl="0" algn="l">
              <a:lnSpc>
                <a:spcPct val="100000"/>
              </a:lnSpc>
              <a:spcBef>
                <a:spcPts val="600"/>
              </a:spcBef>
              <a:spcAft>
                <a:spcPts val="0"/>
              </a:spcAft>
              <a:buClr>
                <a:schemeClr val="dk1"/>
              </a:buClr>
              <a:buSzPts val="2800"/>
              <a:buFont typeface="Arial"/>
              <a:buNone/>
            </a:pPr>
            <a:r>
              <a:t/>
            </a:r>
            <a:endParaRPr b="1" i="0" sz="4500" u="none" cap="none" strike="noStrike">
              <a:solidFill>
                <a:srgbClr val="0E3449"/>
              </a:solidFill>
              <a:latin typeface="Inter"/>
              <a:ea typeface="Inter"/>
              <a:cs typeface="Inter"/>
              <a:sym typeface="Inter"/>
            </a:endParaRPr>
          </a:p>
        </p:txBody>
      </p:sp>
      <p:pic>
        <p:nvPicPr>
          <p:cNvPr id="165" name="Google Shape;165;g3a1fa3a7511_0_47"/>
          <p:cNvPicPr preferRelativeResize="0"/>
          <p:nvPr/>
        </p:nvPicPr>
        <p:blipFill rotWithShape="1">
          <a:blip r:embed="rId3">
            <a:alphaModFix/>
          </a:blip>
          <a:srcRect b="0" l="0" r="0" t="0"/>
          <a:stretch/>
        </p:blipFill>
        <p:spPr>
          <a:xfrm>
            <a:off x="463375" y="482852"/>
            <a:ext cx="576900" cy="38590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a1fa3a7511_0_23"/>
          <p:cNvSpPr txBox="1"/>
          <p:nvPr>
            <p:ph idx="4294967295" type="ctrTitle"/>
          </p:nvPr>
        </p:nvSpPr>
        <p:spPr>
          <a:xfrm>
            <a:off x="1192678" y="0"/>
            <a:ext cx="6846600" cy="5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fr" sz="1600"/>
              <a:t>Security and Compliance Plan</a:t>
            </a:r>
            <a:endParaRPr b="1" i="0" sz="17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2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40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sp>
        <p:nvSpPr>
          <p:cNvPr id="171" name="Google Shape;171;g3a1fa3a7511_0_23"/>
          <p:cNvSpPr txBox="1"/>
          <p:nvPr>
            <p:ph idx="4294967295" type="ctrTitle"/>
          </p:nvPr>
        </p:nvSpPr>
        <p:spPr>
          <a:xfrm>
            <a:off x="0" y="385900"/>
            <a:ext cx="9144000" cy="475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fr" sz="1300"/>
              <a:t>Objectifs</a:t>
            </a:r>
            <a:endParaRPr b="1" sz="1300"/>
          </a:p>
          <a:p>
            <a:pPr indent="-298450" lvl="0" marL="457200" rtl="0" algn="l">
              <a:lnSpc>
                <a:spcPct val="115000"/>
              </a:lnSpc>
              <a:spcBef>
                <a:spcPts val="1200"/>
              </a:spcBef>
              <a:spcAft>
                <a:spcPts val="0"/>
              </a:spcAft>
              <a:buSzPts val="1100"/>
              <a:buAutoNum type="arabicPeriod"/>
            </a:pPr>
            <a:r>
              <a:rPr lang="fr" sz="1100"/>
              <a:t>Protéger les données clients, marchands et transactions.</a:t>
            </a:r>
            <a:endParaRPr sz="1100"/>
          </a:p>
          <a:p>
            <a:pPr indent="-298450" lvl="0" marL="457200" rtl="0" algn="l">
              <a:lnSpc>
                <a:spcPct val="115000"/>
              </a:lnSpc>
              <a:spcBef>
                <a:spcPts val="0"/>
              </a:spcBef>
              <a:spcAft>
                <a:spcPts val="0"/>
              </a:spcAft>
              <a:buSzPts val="1100"/>
              <a:buAutoNum type="arabicPeriod"/>
            </a:pPr>
            <a:r>
              <a:rPr lang="fr" sz="1100"/>
              <a:t>Gérer les accès et le cloisonnement des environnements.</a:t>
            </a:r>
            <a:endParaRPr sz="1100"/>
          </a:p>
          <a:p>
            <a:pPr indent="-298450" lvl="0" marL="457200" rtl="0" algn="l">
              <a:lnSpc>
                <a:spcPct val="115000"/>
              </a:lnSpc>
              <a:spcBef>
                <a:spcPts val="0"/>
              </a:spcBef>
              <a:spcAft>
                <a:spcPts val="0"/>
              </a:spcAft>
              <a:buSzPts val="1100"/>
              <a:buAutoNum type="arabicPeriod"/>
            </a:pPr>
            <a:r>
              <a:rPr lang="fr" sz="1100"/>
              <a:t>Respecter les réglementations (GDPR, PCI-DSS, CCPA).</a:t>
            </a:r>
            <a:endParaRPr sz="1100"/>
          </a:p>
          <a:p>
            <a:pPr indent="-298450" lvl="0" marL="457200" rtl="0" algn="l">
              <a:lnSpc>
                <a:spcPct val="115000"/>
              </a:lnSpc>
              <a:spcBef>
                <a:spcPts val="0"/>
              </a:spcBef>
              <a:spcAft>
                <a:spcPts val="0"/>
              </a:spcAft>
              <a:buSzPts val="1100"/>
              <a:buAutoNum type="arabicPeriod"/>
            </a:pPr>
            <a:r>
              <a:rPr lang="fr" sz="1100"/>
              <a:t>Garantir la traçabilité et la détection d’activités suspectes.</a:t>
            </a:r>
            <a:endParaRPr sz="1100"/>
          </a:p>
          <a:p>
            <a:pPr indent="0" lvl="0" marL="457200" rtl="0" algn="l">
              <a:lnSpc>
                <a:spcPct val="115000"/>
              </a:lnSpc>
              <a:spcBef>
                <a:spcPts val="1200"/>
              </a:spcBef>
              <a:spcAft>
                <a:spcPts val="0"/>
              </a:spcAft>
              <a:buNone/>
            </a:pPr>
            <a:r>
              <a:rPr lang="fr" sz="1100"/>
              <a:t>En </a:t>
            </a:r>
            <a:r>
              <a:rPr lang="fr" sz="1100"/>
              <a:t>résumé</a:t>
            </a:r>
            <a:r>
              <a:rPr lang="fr" sz="1100"/>
              <a:t> : </a:t>
            </a:r>
            <a:endParaRPr sz="1100"/>
          </a:p>
          <a:p>
            <a:pPr indent="0" lvl="0" marL="457200" rtl="0" algn="l">
              <a:lnSpc>
                <a:spcPct val="115000"/>
              </a:lnSpc>
              <a:spcBef>
                <a:spcPts val="1200"/>
              </a:spcBef>
              <a:spcAft>
                <a:spcPts val="0"/>
              </a:spcAft>
              <a:buNone/>
            </a:pPr>
            <a:r>
              <a:rPr b="1" lang="fr" sz="1100"/>
              <a:t>Chiffrement global </a:t>
            </a:r>
            <a:r>
              <a:rPr lang="fr" sz="1100"/>
              <a:t>→ Données sécurisées </a:t>
            </a:r>
            <a:r>
              <a:rPr i="1" lang="fr" sz="1100"/>
              <a:t>at rest</a:t>
            </a:r>
            <a:r>
              <a:rPr lang="fr" sz="1100"/>
              <a:t> (AES-256) et </a:t>
            </a:r>
            <a:r>
              <a:rPr i="1" lang="fr" sz="1100"/>
              <a:t>in transit</a:t>
            </a:r>
            <a:r>
              <a:rPr lang="fr" sz="1100"/>
              <a:t> (TLS 1.2+).</a:t>
            </a:r>
            <a:endParaRPr sz="1100"/>
          </a:p>
          <a:p>
            <a:pPr indent="0" lvl="0" marL="457200" rtl="0" algn="l">
              <a:lnSpc>
                <a:spcPct val="115000"/>
              </a:lnSpc>
              <a:spcBef>
                <a:spcPts val="1200"/>
              </a:spcBef>
              <a:spcAft>
                <a:spcPts val="0"/>
              </a:spcAft>
              <a:buNone/>
            </a:pPr>
            <a:r>
              <a:rPr b="1" lang="fr" sz="1100"/>
              <a:t>Accès contrôlé (RBAC) </a:t>
            </a:r>
            <a:r>
              <a:rPr lang="fr" sz="1100"/>
              <a:t>→ Rôles métiers distincts (Analyst, DS, Dev, Ops, Compliance) avec masquage dynamique des données sensibles.</a:t>
            </a:r>
            <a:endParaRPr sz="1100"/>
          </a:p>
          <a:p>
            <a:pPr indent="0" lvl="0" marL="457200" rtl="0" algn="l">
              <a:lnSpc>
                <a:spcPct val="115000"/>
              </a:lnSpc>
              <a:spcBef>
                <a:spcPts val="1200"/>
              </a:spcBef>
              <a:spcAft>
                <a:spcPts val="0"/>
              </a:spcAft>
              <a:buNone/>
            </a:pPr>
            <a:r>
              <a:rPr b="1" lang="fr" sz="1100"/>
              <a:t>Environnements isolés (VPC AWS) </a:t>
            </a:r>
            <a:r>
              <a:rPr lang="fr" sz="1100"/>
              <a:t>→ Ingestion, transformation et analyse dans des sous-réseaux séparés, aucun accès Internet direct.</a:t>
            </a:r>
            <a:endParaRPr sz="1100"/>
          </a:p>
          <a:p>
            <a:pPr indent="0" lvl="0" marL="457200" rtl="0" algn="l">
              <a:lnSpc>
                <a:spcPct val="115000"/>
              </a:lnSpc>
              <a:spcBef>
                <a:spcPts val="1200"/>
              </a:spcBef>
              <a:spcAft>
                <a:spcPts val="0"/>
              </a:spcAft>
              <a:buNone/>
            </a:pPr>
            <a:r>
              <a:rPr b="1" lang="fr" sz="1100"/>
              <a:t>Conformité réglementaire </a:t>
            </a:r>
            <a:r>
              <a:rPr lang="fr" sz="1100"/>
              <a:t>→ Respect des normes </a:t>
            </a:r>
            <a:r>
              <a:rPr b="1" lang="fr" sz="1100"/>
              <a:t>GDPR</a:t>
            </a:r>
            <a:r>
              <a:rPr lang="fr" sz="1100"/>
              <a:t>, </a:t>
            </a:r>
            <a:r>
              <a:rPr b="1" lang="fr" sz="1100"/>
              <a:t>PCI-DSS</a:t>
            </a:r>
            <a:r>
              <a:rPr lang="fr" sz="1100"/>
              <a:t>, </a:t>
            </a:r>
            <a:r>
              <a:rPr b="1" lang="fr" sz="1100"/>
              <a:t>CCPA</a:t>
            </a:r>
            <a:r>
              <a:rPr lang="fr" sz="1100"/>
              <a:t> : pseudonymisation, hachage, droit à l’oubli automatisé.</a:t>
            </a:r>
            <a:endParaRPr sz="1100"/>
          </a:p>
          <a:p>
            <a:pPr indent="0" lvl="0" marL="457200" rtl="0" algn="l">
              <a:lnSpc>
                <a:spcPct val="115000"/>
              </a:lnSpc>
              <a:spcBef>
                <a:spcPts val="1200"/>
              </a:spcBef>
              <a:spcAft>
                <a:spcPts val="0"/>
              </a:spcAft>
              <a:buNone/>
            </a:pPr>
            <a:r>
              <a:rPr b="1" lang="fr" sz="1100"/>
              <a:t>Audit &amp; Monitorin</a:t>
            </a:r>
            <a:r>
              <a:rPr b="1" lang="fr" sz="1100"/>
              <a:t>g </a:t>
            </a:r>
            <a:r>
              <a:rPr lang="fr" sz="1100"/>
              <a:t>→ Suivi centralisé des logs (Airflow, Snowflake, MongoDB), alertes en cas d’anomalie, tableau de bord conformité.</a:t>
            </a:r>
            <a:endParaRPr sz="1100"/>
          </a:p>
          <a:p>
            <a:pPr indent="0" lvl="0" marL="457200" rtl="0" algn="l">
              <a:lnSpc>
                <a:spcPct val="115000"/>
              </a:lnSpc>
              <a:spcBef>
                <a:spcPts val="1200"/>
              </a:spcBef>
              <a:spcAft>
                <a:spcPts val="0"/>
              </a:spcAft>
              <a:buNone/>
            </a:pPr>
            <a:r>
              <a:rPr b="1" lang="fr" sz="1100"/>
              <a:t>Sécurité by design </a:t>
            </a:r>
            <a:r>
              <a:rPr lang="fr" sz="1100"/>
              <a:t>→ Gouvernance intégrée : chiffrement, contrôle d’accès, conformité et traçabilité à chaque étape du pipeline.</a:t>
            </a:r>
            <a:endParaRPr sz="1100"/>
          </a:p>
          <a:p>
            <a:pPr indent="0" lvl="0" marL="457200" rtl="0" algn="l">
              <a:lnSpc>
                <a:spcPct val="115000"/>
              </a:lnSpc>
              <a:spcBef>
                <a:spcPts val="1200"/>
              </a:spcBef>
              <a:spcAft>
                <a:spcPts val="0"/>
              </a:spcAft>
              <a:buNone/>
            </a:pPr>
            <a:r>
              <a:rPr i="1" lang="fr" sz="1100" u="sng"/>
              <a:t>Sécurité et conformité intégrées sur l’ensemble de la plateforme Stripe – de l’ingestion à l’analyse.</a:t>
            </a:r>
            <a:br>
              <a:rPr i="1" lang="fr" sz="1100"/>
            </a:br>
            <a:endParaRPr i="1" sz="1100"/>
          </a:p>
          <a:p>
            <a:pPr indent="0" lvl="0" marL="457200" rtl="0" algn="l">
              <a:lnSpc>
                <a:spcPct val="115000"/>
              </a:lnSpc>
              <a:spcBef>
                <a:spcPts val="1200"/>
              </a:spcBef>
              <a:spcAft>
                <a:spcPts val="0"/>
              </a:spcAft>
              <a:buNone/>
            </a:pPr>
            <a:r>
              <a:t/>
            </a:r>
            <a:endParaRPr sz="1100"/>
          </a:p>
          <a:p>
            <a:pPr indent="0" lvl="0" marL="45720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br>
              <a:rPr lang="fr" sz="1100"/>
            </a:br>
            <a:endParaRPr sz="1100"/>
          </a:p>
          <a:p>
            <a:pPr indent="0" lvl="0" marL="457200" rtl="0" algn="l">
              <a:lnSpc>
                <a:spcPct val="115000"/>
              </a:lnSpc>
              <a:spcBef>
                <a:spcPts val="1200"/>
              </a:spcBef>
              <a:spcAft>
                <a:spcPts val="0"/>
              </a:spcAft>
              <a:buNone/>
            </a:pPr>
            <a:r>
              <a:t/>
            </a:r>
            <a:endParaRPr b="1" sz="1300"/>
          </a:p>
          <a:p>
            <a:pPr indent="0" lvl="0" marL="0" rtl="0" algn="l">
              <a:lnSpc>
                <a:spcPct val="115000"/>
              </a:lnSpc>
              <a:spcBef>
                <a:spcPts val="1200"/>
              </a:spcBef>
              <a:spcAft>
                <a:spcPts val="0"/>
              </a:spcAft>
              <a:buNone/>
            </a:pPr>
            <a:br>
              <a:rPr lang="fr" sz="1100"/>
            </a:br>
            <a:endParaRPr sz="1100"/>
          </a:p>
          <a:p>
            <a:pPr indent="0" lvl="0" marL="457200" rtl="0" algn="l">
              <a:lnSpc>
                <a:spcPct val="115000"/>
              </a:lnSpc>
              <a:spcBef>
                <a:spcPts val="1200"/>
              </a:spcBef>
              <a:spcAft>
                <a:spcPts val="0"/>
              </a:spcAft>
              <a:buNone/>
            </a:pPr>
            <a:br>
              <a:rPr lang="fr" sz="1100"/>
            </a:br>
            <a:endParaRPr sz="1100"/>
          </a:p>
          <a:p>
            <a:pPr indent="0" lvl="0" marL="0" rtl="0" algn="l">
              <a:lnSpc>
                <a:spcPct val="115000"/>
              </a:lnSpc>
              <a:spcBef>
                <a:spcPts val="1200"/>
              </a:spcBef>
              <a:spcAft>
                <a:spcPts val="0"/>
              </a:spcAft>
              <a:buNone/>
            </a:pPr>
            <a:r>
              <a:t/>
            </a:r>
            <a:endParaRPr sz="1100"/>
          </a:p>
          <a:p>
            <a:pPr indent="0" lvl="0" marL="457200" rtl="0" algn="l">
              <a:lnSpc>
                <a:spcPct val="115000"/>
              </a:lnSpc>
              <a:spcBef>
                <a:spcPts val="1200"/>
              </a:spcBef>
              <a:spcAft>
                <a:spcPts val="0"/>
              </a:spcAft>
              <a:buNone/>
            </a:pPr>
            <a:r>
              <a:t/>
            </a:r>
            <a:endParaRPr sz="1000">
              <a:solidFill>
                <a:srgbClr val="4B5258"/>
              </a:solidFill>
              <a:latin typeface="Inter Medium"/>
              <a:ea typeface="Inter Medium"/>
              <a:cs typeface="Inter Medium"/>
              <a:sym typeface="Inter Medium"/>
            </a:endParaRPr>
          </a:p>
        </p:txBody>
      </p:sp>
      <p:pic>
        <p:nvPicPr>
          <p:cNvPr id="172" name="Google Shape;172;g3a1fa3a7511_0_23"/>
          <p:cNvPicPr preferRelativeResize="0"/>
          <p:nvPr/>
        </p:nvPicPr>
        <p:blipFill rotWithShape="1">
          <a:blip r:embed="rId3">
            <a:alphaModFix/>
          </a:blip>
          <a:srcRect b="0" l="0" r="0" t="0"/>
          <a:stretch/>
        </p:blipFill>
        <p:spPr>
          <a:xfrm>
            <a:off x="0" y="2"/>
            <a:ext cx="576900" cy="38590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4FF"/>
        </a:solidFill>
      </p:bgPr>
    </p:bg>
    <p:spTree>
      <p:nvGrpSpPr>
        <p:cNvPr id="176" name="Shape 176"/>
        <p:cNvGrpSpPr/>
        <p:nvPr/>
      </p:nvGrpSpPr>
      <p:grpSpPr>
        <a:xfrm>
          <a:off x="0" y="0"/>
          <a:ext cx="0" cy="0"/>
          <a:chOff x="0" y="0"/>
          <a:chExt cx="0" cy="0"/>
        </a:xfrm>
      </p:grpSpPr>
      <p:sp>
        <p:nvSpPr>
          <p:cNvPr id="177" name="Google Shape;177;g3a1fa3a7511_0_62"/>
          <p:cNvSpPr txBox="1"/>
          <p:nvPr>
            <p:ph idx="4294967295" type="ctrTitle"/>
          </p:nvPr>
        </p:nvSpPr>
        <p:spPr>
          <a:xfrm>
            <a:off x="404075" y="1666825"/>
            <a:ext cx="8553000" cy="78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fr" sz="2400"/>
              <a:t>Machine Learning Integration Strategy</a:t>
            </a:r>
            <a:endParaRPr b="1" sz="2400"/>
          </a:p>
          <a:p>
            <a:pPr indent="0" lvl="0" marL="0" rtl="0" algn="l">
              <a:lnSpc>
                <a:spcPct val="115000"/>
              </a:lnSpc>
              <a:spcBef>
                <a:spcPts val="300"/>
              </a:spcBef>
              <a:spcAft>
                <a:spcPts val="0"/>
              </a:spcAft>
              <a:buClr>
                <a:schemeClr val="dk1"/>
              </a:buClr>
              <a:buSzPts val="1100"/>
              <a:buFont typeface="Arial"/>
              <a:buNone/>
            </a:pPr>
            <a:r>
              <a:t/>
            </a:r>
            <a:endParaRPr b="1" i="0" sz="5500" u="none" cap="none" strike="noStrike">
              <a:solidFill>
                <a:srgbClr val="0E3449"/>
              </a:solidFill>
              <a:latin typeface="Inter"/>
              <a:ea typeface="Inter"/>
              <a:cs typeface="Inter"/>
              <a:sym typeface="Inter"/>
            </a:endParaRPr>
          </a:p>
          <a:p>
            <a:pPr indent="0" lvl="0" marL="0" marR="0" rtl="0" algn="l">
              <a:lnSpc>
                <a:spcPct val="100000"/>
              </a:lnSpc>
              <a:spcBef>
                <a:spcPts val="600"/>
              </a:spcBef>
              <a:spcAft>
                <a:spcPts val="0"/>
              </a:spcAft>
              <a:buClr>
                <a:schemeClr val="dk1"/>
              </a:buClr>
              <a:buSzPts val="2800"/>
              <a:buFont typeface="Arial"/>
              <a:buNone/>
            </a:pPr>
            <a:r>
              <a:t/>
            </a:r>
            <a:endParaRPr b="1" i="0" sz="4500" u="none" cap="none" strike="noStrike">
              <a:solidFill>
                <a:srgbClr val="0E3449"/>
              </a:solidFill>
              <a:latin typeface="Inter"/>
              <a:ea typeface="Inter"/>
              <a:cs typeface="Inter"/>
              <a:sym typeface="Inter"/>
            </a:endParaRPr>
          </a:p>
        </p:txBody>
      </p:sp>
      <p:pic>
        <p:nvPicPr>
          <p:cNvPr id="178" name="Google Shape;178;g3a1fa3a7511_0_62"/>
          <p:cNvPicPr preferRelativeResize="0"/>
          <p:nvPr/>
        </p:nvPicPr>
        <p:blipFill rotWithShape="1">
          <a:blip r:embed="rId3">
            <a:alphaModFix/>
          </a:blip>
          <a:srcRect b="0" l="0" r="0" t="0"/>
          <a:stretch/>
        </p:blipFill>
        <p:spPr>
          <a:xfrm>
            <a:off x="463375" y="482852"/>
            <a:ext cx="576900" cy="38590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a1fa3a7511_0_67"/>
          <p:cNvSpPr txBox="1"/>
          <p:nvPr>
            <p:ph idx="4294967295" type="ctrTitle"/>
          </p:nvPr>
        </p:nvSpPr>
        <p:spPr>
          <a:xfrm>
            <a:off x="1192678" y="0"/>
            <a:ext cx="6846600" cy="5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fr" sz="1600"/>
              <a:t>Machine Learning Integration Strategy</a:t>
            </a:r>
            <a:endParaRPr b="1" i="0" sz="9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2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40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pic>
        <p:nvPicPr>
          <p:cNvPr id="184" name="Google Shape;184;g3a1fa3a7511_0_67"/>
          <p:cNvPicPr preferRelativeResize="0"/>
          <p:nvPr/>
        </p:nvPicPr>
        <p:blipFill rotWithShape="1">
          <a:blip r:embed="rId3">
            <a:alphaModFix/>
          </a:blip>
          <a:srcRect b="0" l="0" r="0" t="0"/>
          <a:stretch/>
        </p:blipFill>
        <p:spPr>
          <a:xfrm>
            <a:off x="0" y="2"/>
            <a:ext cx="576900" cy="385904"/>
          </a:xfrm>
          <a:prstGeom prst="rect">
            <a:avLst/>
          </a:prstGeom>
          <a:noFill/>
          <a:ln>
            <a:noFill/>
          </a:ln>
        </p:spPr>
      </p:pic>
      <p:pic>
        <p:nvPicPr>
          <p:cNvPr id="185" name="Google Shape;185;g3a1fa3a7511_0_67"/>
          <p:cNvPicPr preferRelativeResize="0"/>
          <p:nvPr/>
        </p:nvPicPr>
        <p:blipFill>
          <a:blip r:embed="rId4">
            <a:alphaModFix/>
          </a:blip>
          <a:stretch>
            <a:fillRect/>
          </a:stretch>
        </p:blipFill>
        <p:spPr>
          <a:xfrm>
            <a:off x="1298275" y="350100"/>
            <a:ext cx="5362075" cy="4757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a1fa3a7511_0_81"/>
          <p:cNvSpPr txBox="1"/>
          <p:nvPr>
            <p:ph idx="4294967295" type="ctrTitle"/>
          </p:nvPr>
        </p:nvSpPr>
        <p:spPr>
          <a:xfrm>
            <a:off x="1192678" y="0"/>
            <a:ext cx="6846600" cy="5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fr" sz="1600"/>
              <a:t>Machine Learning Integration Strategy</a:t>
            </a:r>
            <a:endParaRPr b="1" i="0" sz="9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2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40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sp>
        <p:nvSpPr>
          <p:cNvPr id="191" name="Google Shape;191;g3a1fa3a7511_0_81"/>
          <p:cNvSpPr txBox="1"/>
          <p:nvPr>
            <p:ph idx="4294967295" type="ctrTitle"/>
          </p:nvPr>
        </p:nvSpPr>
        <p:spPr>
          <a:xfrm>
            <a:off x="0" y="385900"/>
            <a:ext cx="9144000" cy="475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fr" sz="1000"/>
              <a:t>Cas d’usage clés</a:t>
            </a:r>
            <a:endParaRPr b="1" sz="1000"/>
          </a:p>
          <a:p>
            <a:pPr indent="-292100" lvl="0" marL="457200" rtl="0" algn="l">
              <a:lnSpc>
                <a:spcPct val="115000"/>
              </a:lnSpc>
              <a:spcBef>
                <a:spcPts val="1200"/>
              </a:spcBef>
              <a:spcAft>
                <a:spcPts val="0"/>
              </a:spcAft>
              <a:buSzPts val="1000"/>
              <a:buChar char="●"/>
            </a:pPr>
            <a:r>
              <a:rPr lang="fr" sz="1000"/>
              <a:t>Détection de fraude en temps réel (FastAPI, MongoDB)</a:t>
            </a:r>
            <a:endParaRPr sz="1000"/>
          </a:p>
          <a:p>
            <a:pPr indent="-292100" lvl="0" marL="457200" rtl="0" algn="l">
              <a:lnSpc>
                <a:spcPct val="115000"/>
              </a:lnSpc>
              <a:spcBef>
                <a:spcPts val="0"/>
              </a:spcBef>
              <a:spcAft>
                <a:spcPts val="0"/>
              </a:spcAft>
              <a:buSzPts val="1000"/>
              <a:buChar char="●"/>
            </a:pPr>
            <a:r>
              <a:rPr lang="fr" sz="1000"/>
              <a:t>Personnalisation client (recommandation, segmentation)</a:t>
            </a:r>
            <a:endParaRPr sz="1000"/>
          </a:p>
          <a:p>
            <a:pPr indent="-292100" lvl="0" marL="457200" rtl="0" algn="l">
              <a:lnSpc>
                <a:spcPct val="115000"/>
              </a:lnSpc>
              <a:spcBef>
                <a:spcPts val="0"/>
              </a:spcBef>
              <a:spcAft>
                <a:spcPts val="0"/>
              </a:spcAft>
              <a:buSzPts val="1000"/>
              <a:buChar char="●"/>
            </a:pPr>
            <a:r>
              <a:rPr lang="fr" sz="1000"/>
              <a:t>Prévision de volumes (LSTM / régression sur séries temporelles)</a:t>
            </a:r>
            <a:endParaRPr sz="1000"/>
          </a:p>
          <a:p>
            <a:pPr indent="0" lvl="0" marL="0" rtl="0" algn="l">
              <a:lnSpc>
                <a:spcPct val="115000"/>
              </a:lnSpc>
              <a:spcBef>
                <a:spcPts val="1200"/>
              </a:spcBef>
              <a:spcAft>
                <a:spcPts val="0"/>
              </a:spcAft>
              <a:buNone/>
            </a:pPr>
            <a:r>
              <a:rPr b="1" lang="fr" sz="1000"/>
              <a:t>Pipeline ML automatisé (Airflow + MLflow)</a:t>
            </a:r>
            <a:endParaRPr b="1" sz="1000"/>
          </a:p>
          <a:p>
            <a:pPr indent="-292100" lvl="0" marL="457200" rtl="0" algn="l">
              <a:lnSpc>
                <a:spcPct val="115000"/>
              </a:lnSpc>
              <a:spcBef>
                <a:spcPts val="1200"/>
              </a:spcBef>
              <a:spcAft>
                <a:spcPts val="0"/>
              </a:spcAft>
              <a:buSzPts val="1000"/>
              <a:buChar char="●"/>
            </a:pPr>
            <a:r>
              <a:rPr b="1" lang="fr" sz="1000"/>
              <a:t>Temps réel</a:t>
            </a:r>
            <a:r>
              <a:rPr lang="fr" sz="1000"/>
              <a:t> : API FastAPI sur EC2/ECS connectée à MongoDB (ml_features)</a:t>
            </a:r>
            <a:endParaRPr sz="1000"/>
          </a:p>
          <a:p>
            <a:pPr indent="-292100" lvl="0" marL="457200" rtl="0" algn="l">
              <a:lnSpc>
                <a:spcPct val="115000"/>
              </a:lnSpc>
              <a:spcBef>
                <a:spcPts val="0"/>
              </a:spcBef>
              <a:spcAft>
                <a:spcPts val="0"/>
              </a:spcAft>
              <a:buSzPts val="1000"/>
              <a:buChar char="●"/>
            </a:pPr>
            <a:r>
              <a:rPr b="1" lang="fr" sz="1000"/>
              <a:t>Batch scoring</a:t>
            </a:r>
            <a:r>
              <a:rPr lang="fr" sz="1000"/>
              <a:t> : Airflow applique les modèles sur Snowflake → fact_fraud_predictions, fact_customer_segments</a:t>
            </a:r>
            <a:endParaRPr sz="1000"/>
          </a:p>
          <a:p>
            <a:pPr indent="-292100" lvl="0" marL="457200" rtl="0" algn="l">
              <a:lnSpc>
                <a:spcPct val="115000"/>
              </a:lnSpc>
              <a:spcBef>
                <a:spcPts val="0"/>
              </a:spcBef>
              <a:spcAft>
                <a:spcPts val="0"/>
              </a:spcAft>
              <a:buSzPts val="1000"/>
              <a:buChar char="●"/>
            </a:pPr>
            <a:r>
              <a:rPr lang="fr" sz="1000"/>
              <a:t>Résultats accessibles via Tableau &amp; Evidently</a:t>
            </a:r>
            <a:endParaRPr sz="1000"/>
          </a:p>
          <a:p>
            <a:pPr indent="0" lvl="0" marL="0" rtl="0" algn="l">
              <a:lnSpc>
                <a:spcPct val="115000"/>
              </a:lnSpc>
              <a:spcBef>
                <a:spcPts val="1200"/>
              </a:spcBef>
              <a:spcAft>
                <a:spcPts val="0"/>
              </a:spcAft>
              <a:buNone/>
            </a:pPr>
            <a:r>
              <a:rPr b="1" lang="fr" sz="1000"/>
              <a:t>Monitoring</a:t>
            </a:r>
            <a:endParaRPr b="1" sz="1000"/>
          </a:p>
          <a:p>
            <a:pPr indent="-292100" lvl="0" marL="457200" rtl="0" algn="l">
              <a:lnSpc>
                <a:spcPct val="115000"/>
              </a:lnSpc>
              <a:spcBef>
                <a:spcPts val="1200"/>
              </a:spcBef>
              <a:spcAft>
                <a:spcPts val="0"/>
              </a:spcAft>
              <a:buSzPts val="1000"/>
              <a:buChar char="●"/>
            </a:pPr>
            <a:r>
              <a:rPr b="1" lang="fr" sz="1000"/>
              <a:t>Suivi des métriques</a:t>
            </a:r>
            <a:r>
              <a:rPr lang="fr" sz="1000"/>
              <a:t> (AUC, F1, recall) via MLflow</a:t>
            </a:r>
            <a:endParaRPr sz="1000"/>
          </a:p>
          <a:p>
            <a:pPr indent="-292100" lvl="0" marL="457200" rtl="0" algn="l">
              <a:lnSpc>
                <a:spcPct val="115000"/>
              </a:lnSpc>
              <a:spcBef>
                <a:spcPts val="0"/>
              </a:spcBef>
              <a:spcAft>
                <a:spcPts val="0"/>
              </a:spcAft>
              <a:buSzPts val="1000"/>
              <a:buChar char="●"/>
            </a:pPr>
            <a:r>
              <a:rPr b="1" lang="fr" sz="1000"/>
              <a:t>Détection de drift</a:t>
            </a:r>
            <a:r>
              <a:rPr lang="fr" sz="1000"/>
              <a:t> (Evidently → rapports S3, déclenchement réentraînement)</a:t>
            </a:r>
            <a:endParaRPr sz="1000"/>
          </a:p>
          <a:p>
            <a:pPr indent="0" lvl="0" marL="0" rtl="0" algn="l">
              <a:lnSpc>
                <a:spcPct val="115000"/>
              </a:lnSpc>
              <a:spcBef>
                <a:spcPts val="1200"/>
              </a:spcBef>
              <a:spcAft>
                <a:spcPts val="0"/>
              </a:spcAft>
              <a:buNone/>
            </a:pPr>
            <a:r>
              <a:rPr b="1" lang="fr" sz="1000"/>
              <a:t>CI/CD avec Jenkins (orchestré par Airflow)</a:t>
            </a:r>
            <a:endParaRPr b="1" sz="1000"/>
          </a:p>
          <a:p>
            <a:pPr indent="-292100" lvl="0" marL="457200" rtl="0" algn="l">
              <a:lnSpc>
                <a:spcPct val="115000"/>
              </a:lnSpc>
              <a:spcBef>
                <a:spcPts val="1200"/>
              </a:spcBef>
              <a:spcAft>
                <a:spcPts val="0"/>
              </a:spcAft>
              <a:buSzPts val="1000"/>
              <a:buChar char="●"/>
            </a:pPr>
            <a:r>
              <a:rPr b="1" lang="fr" sz="1000"/>
              <a:t>CI</a:t>
            </a:r>
            <a:r>
              <a:rPr lang="fr" sz="1000"/>
              <a:t> : tests code &amp; data, build Docker, validation dbt</a:t>
            </a:r>
            <a:endParaRPr sz="1000"/>
          </a:p>
          <a:p>
            <a:pPr indent="-292100" lvl="0" marL="457200" rtl="0" algn="l">
              <a:lnSpc>
                <a:spcPct val="115000"/>
              </a:lnSpc>
              <a:spcBef>
                <a:spcPts val="0"/>
              </a:spcBef>
              <a:spcAft>
                <a:spcPts val="0"/>
              </a:spcAft>
              <a:buSzPts val="1000"/>
              <a:buChar char="●"/>
            </a:pPr>
            <a:r>
              <a:rPr b="1" lang="fr" sz="1000"/>
              <a:t>CD</a:t>
            </a:r>
            <a:r>
              <a:rPr lang="fr" sz="1000"/>
              <a:t> : déploiement auto dans MLflow Model Registry</a:t>
            </a:r>
            <a:endParaRPr sz="1000"/>
          </a:p>
          <a:p>
            <a:pPr indent="-292100" lvl="0" marL="457200" rtl="0" algn="l">
              <a:lnSpc>
                <a:spcPct val="115000"/>
              </a:lnSpc>
              <a:spcBef>
                <a:spcPts val="0"/>
              </a:spcBef>
              <a:spcAft>
                <a:spcPts val="0"/>
              </a:spcAft>
              <a:buSzPts val="1000"/>
              <a:buChar char="●"/>
            </a:pPr>
            <a:r>
              <a:rPr b="1" lang="fr" sz="1000"/>
              <a:t>CT</a:t>
            </a:r>
            <a:r>
              <a:rPr lang="fr" sz="1000"/>
              <a:t> : réentraînement déclenché dès dérive, promotion automatique du modèle </a:t>
            </a:r>
            <a:r>
              <a:rPr i="1" lang="fr" sz="1000"/>
              <a:t>champion</a:t>
            </a:r>
            <a:endParaRPr i="1" sz="1000"/>
          </a:p>
          <a:p>
            <a:pPr indent="0" lvl="0" marL="0" rtl="0" algn="l">
              <a:lnSpc>
                <a:spcPct val="115000"/>
              </a:lnSpc>
              <a:spcBef>
                <a:spcPts val="1200"/>
              </a:spcBef>
              <a:spcAft>
                <a:spcPts val="0"/>
              </a:spcAft>
              <a:buNone/>
            </a:pPr>
            <a:r>
              <a:rPr b="1" lang="fr" sz="1000"/>
              <a:t>Sécurité &amp; conformité ML</a:t>
            </a:r>
            <a:endParaRPr b="1" sz="1000"/>
          </a:p>
          <a:p>
            <a:pPr indent="0" lvl="0" marL="139700" rtl="0" algn="l">
              <a:lnSpc>
                <a:spcPct val="115000"/>
              </a:lnSpc>
              <a:spcBef>
                <a:spcPts val="1200"/>
              </a:spcBef>
              <a:spcAft>
                <a:spcPts val="0"/>
              </a:spcAft>
              <a:buNone/>
            </a:pPr>
            <a:r>
              <a:rPr lang="fr" sz="1000">
                <a:solidFill>
                  <a:srgbClr val="0E0E0E"/>
                </a:solidFill>
              </a:rPr>
              <a:t>L’intégration ML de Stripe relie Snowflake, MongoDB et S3 dans un pipeline distribué et automatisé, garantissant performance, conformité et apprentissage continu des modèles.</a:t>
            </a:r>
            <a:endParaRPr sz="1000">
              <a:solidFill>
                <a:srgbClr val="0E0E0E"/>
              </a:solidFill>
            </a:endParaRPr>
          </a:p>
          <a:p>
            <a:pPr indent="0" lvl="0" marL="457200" rtl="0" algn="l">
              <a:lnSpc>
                <a:spcPct val="115000"/>
              </a:lnSpc>
              <a:spcBef>
                <a:spcPts val="1200"/>
              </a:spcBef>
              <a:spcAft>
                <a:spcPts val="0"/>
              </a:spcAft>
              <a:buNone/>
            </a:pPr>
            <a:br>
              <a:rPr i="1" lang="fr" sz="1100"/>
            </a:br>
            <a:endParaRPr i="1" sz="1100"/>
          </a:p>
          <a:p>
            <a:pPr indent="0" lvl="0" marL="457200" rtl="0" algn="l">
              <a:lnSpc>
                <a:spcPct val="115000"/>
              </a:lnSpc>
              <a:spcBef>
                <a:spcPts val="1200"/>
              </a:spcBef>
              <a:spcAft>
                <a:spcPts val="0"/>
              </a:spcAft>
              <a:buNone/>
            </a:pPr>
            <a:br>
              <a:rPr lang="fr" sz="1100"/>
            </a:br>
            <a:endParaRPr sz="1100"/>
          </a:p>
          <a:p>
            <a:pPr indent="0" lvl="0" marL="457200" rtl="0" algn="l">
              <a:lnSpc>
                <a:spcPct val="115000"/>
              </a:lnSpc>
              <a:spcBef>
                <a:spcPts val="1200"/>
              </a:spcBef>
              <a:spcAft>
                <a:spcPts val="0"/>
              </a:spcAft>
              <a:buNone/>
            </a:pPr>
            <a:br>
              <a:rPr lang="fr" sz="1100"/>
            </a:br>
            <a:endParaRPr sz="1100"/>
          </a:p>
          <a:p>
            <a:pPr indent="0" lvl="0" marL="0" rtl="0" algn="l">
              <a:lnSpc>
                <a:spcPct val="115000"/>
              </a:lnSpc>
              <a:spcBef>
                <a:spcPts val="1200"/>
              </a:spcBef>
              <a:spcAft>
                <a:spcPts val="0"/>
              </a:spcAft>
              <a:buNone/>
            </a:pPr>
            <a:r>
              <a:t/>
            </a:r>
            <a:endParaRPr b="1" sz="1100"/>
          </a:p>
          <a:p>
            <a:pPr indent="0" lvl="0" marL="457200" rtl="0" algn="l">
              <a:lnSpc>
                <a:spcPct val="115000"/>
              </a:lnSpc>
              <a:spcBef>
                <a:spcPts val="1200"/>
              </a:spcBef>
              <a:spcAft>
                <a:spcPts val="0"/>
              </a:spcAft>
              <a:buNone/>
            </a:pPr>
            <a:br>
              <a:rPr lang="fr" sz="1100"/>
            </a:br>
            <a:endParaRPr sz="1100"/>
          </a:p>
          <a:p>
            <a:pPr indent="0" lvl="0" marL="457200" rtl="0" algn="l">
              <a:lnSpc>
                <a:spcPct val="115000"/>
              </a:lnSpc>
              <a:spcBef>
                <a:spcPts val="1200"/>
              </a:spcBef>
              <a:spcAft>
                <a:spcPts val="0"/>
              </a:spcAft>
              <a:buNone/>
            </a:pPr>
            <a:r>
              <a:t/>
            </a:r>
            <a:endParaRPr b="1" sz="1300"/>
          </a:p>
          <a:p>
            <a:pPr indent="0" lvl="0" marL="457200" rtl="0" algn="l">
              <a:lnSpc>
                <a:spcPct val="115000"/>
              </a:lnSpc>
              <a:spcBef>
                <a:spcPts val="1200"/>
              </a:spcBef>
              <a:spcAft>
                <a:spcPts val="0"/>
              </a:spcAft>
              <a:buNone/>
            </a:pPr>
            <a:r>
              <a:t/>
            </a:r>
            <a:endParaRPr sz="1100"/>
          </a:p>
          <a:p>
            <a:pPr indent="0" lvl="0" marL="45720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br>
              <a:rPr lang="fr" sz="1100"/>
            </a:br>
            <a:endParaRPr sz="1100"/>
          </a:p>
          <a:p>
            <a:pPr indent="0" lvl="0" marL="457200" rtl="0" algn="l">
              <a:lnSpc>
                <a:spcPct val="115000"/>
              </a:lnSpc>
              <a:spcBef>
                <a:spcPts val="1200"/>
              </a:spcBef>
              <a:spcAft>
                <a:spcPts val="0"/>
              </a:spcAft>
              <a:buNone/>
            </a:pPr>
            <a:r>
              <a:t/>
            </a:r>
            <a:endParaRPr b="1" sz="1300"/>
          </a:p>
          <a:p>
            <a:pPr indent="0" lvl="0" marL="0" rtl="0" algn="l">
              <a:lnSpc>
                <a:spcPct val="115000"/>
              </a:lnSpc>
              <a:spcBef>
                <a:spcPts val="1200"/>
              </a:spcBef>
              <a:spcAft>
                <a:spcPts val="0"/>
              </a:spcAft>
              <a:buNone/>
            </a:pPr>
            <a:br>
              <a:rPr lang="fr" sz="1100"/>
            </a:br>
            <a:endParaRPr sz="1100"/>
          </a:p>
          <a:p>
            <a:pPr indent="0" lvl="0" marL="457200" rtl="0" algn="l">
              <a:lnSpc>
                <a:spcPct val="115000"/>
              </a:lnSpc>
              <a:spcBef>
                <a:spcPts val="1200"/>
              </a:spcBef>
              <a:spcAft>
                <a:spcPts val="0"/>
              </a:spcAft>
              <a:buNone/>
            </a:pPr>
            <a:br>
              <a:rPr lang="fr" sz="1100"/>
            </a:br>
            <a:endParaRPr sz="1100"/>
          </a:p>
          <a:p>
            <a:pPr indent="0" lvl="0" marL="0" rtl="0" algn="l">
              <a:lnSpc>
                <a:spcPct val="115000"/>
              </a:lnSpc>
              <a:spcBef>
                <a:spcPts val="1200"/>
              </a:spcBef>
              <a:spcAft>
                <a:spcPts val="0"/>
              </a:spcAft>
              <a:buNone/>
            </a:pPr>
            <a:r>
              <a:t/>
            </a:r>
            <a:endParaRPr sz="1100"/>
          </a:p>
          <a:p>
            <a:pPr indent="0" lvl="0" marL="457200" rtl="0" algn="l">
              <a:lnSpc>
                <a:spcPct val="115000"/>
              </a:lnSpc>
              <a:spcBef>
                <a:spcPts val="1200"/>
              </a:spcBef>
              <a:spcAft>
                <a:spcPts val="0"/>
              </a:spcAft>
              <a:buNone/>
            </a:pPr>
            <a:r>
              <a:t/>
            </a:r>
            <a:endParaRPr sz="1000">
              <a:solidFill>
                <a:srgbClr val="4B5258"/>
              </a:solidFill>
              <a:latin typeface="Inter Medium"/>
              <a:ea typeface="Inter Medium"/>
              <a:cs typeface="Inter Medium"/>
              <a:sym typeface="Inter Medium"/>
            </a:endParaRPr>
          </a:p>
        </p:txBody>
      </p:sp>
      <p:pic>
        <p:nvPicPr>
          <p:cNvPr id="192" name="Google Shape;192;g3a1fa3a7511_0_81"/>
          <p:cNvPicPr preferRelativeResize="0"/>
          <p:nvPr/>
        </p:nvPicPr>
        <p:blipFill rotWithShape="1">
          <a:blip r:embed="rId3">
            <a:alphaModFix/>
          </a:blip>
          <a:srcRect b="0" l="0" r="0" t="0"/>
          <a:stretch/>
        </p:blipFill>
        <p:spPr>
          <a:xfrm>
            <a:off x="0" y="2"/>
            <a:ext cx="576900" cy="38590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4FF"/>
        </a:solidFill>
      </p:bgPr>
    </p:bg>
    <p:spTree>
      <p:nvGrpSpPr>
        <p:cNvPr id="196" name="Shape 196"/>
        <p:cNvGrpSpPr/>
        <p:nvPr/>
      </p:nvGrpSpPr>
      <p:grpSpPr>
        <a:xfrm>
          <a:off x="0" y="0"/>
          <a:ext cx="0" cy="0"/>
          <a:chOff x="0" y="0"/>
          <a:chExt cx="0" cy="0"/>
        </a:xfrm>
      </p:grpSpPr>
      <p:sp>
        <p:nvSpPr>
          <p:cNvPr id="197" name="Google Shape;197;g3a1fa3a7511_0_88"/>
          <p:cNvSpPr txBox="1"/>
          <p:nvPr>
            <p:ph idx="4294967295" type="ctrTitle"/>
          </p:nvPr>
        </p:nvSpPr>
        <p:spPr>
          <a:xfrm>
            <a:off x="404075" y="1666825"/>
            <a:ext cx="8553000" cy="78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fr" sz="2400"/>
              <a:t>SQL &amp; NoSQL Queries</a:t>
            </a:r>
            <a:endParaRPr b="1" sz="2400"/>
          </a:p>
          <a:p>
            <a:pPr indent="0" lvl="0" marL="0" rtl="0" algn="l">
              <a:lnSpc>
                <a:spcPct val="115000"/>
              </a:lnSpc>
              <a:spcBef>
                <a:spcPts val="400"/>
              </a:spcBef>
              <a:spcAft>
                <a:spcPts val="0"/>
              </a:spcAft>
              <a:buClr>
                <a:schemeClr val="dk1"/>
              </a:buClr>
              <a:buSzPts val="1100"/>
              <a:buFont typeface="Arial"/>
              <a:buNone/>
            </a:pPr>
            <a:r>
              <a:t/>
            </a:r>
            <a:endParaRPr b="1" sz="2400"/>
          </a:p>
          <a:p>
            <a:pPr indent="0" lvl="0" marL="0" rtl="0" algn="l">
              <a:lnSpc>
                <a:spcPct val="115000"/>
              </a:lnSpc>
              <a:spcBef>
                <a:spcPts val="300"/>
              </a:spcBef>
              <a:spcAft>
                <a:spcPts val="0"/>
              </a:spcAft>
              <a:buClr>
                <a:schemeClr val="dk1"/>
              </a:buClr>
              <a:buSzPts val="1100"/>
              <a:buFont typeface="Arial"/>
              <a:buNone/>
            </a:pPr>
            <a:r>
              <a:t/>
            </a:r>
            <a:endParaRPr b="1" i="0" sz="5500" u="none" cap="none" strike="noStrike">
              <a:solidFill>
                <a:srgbClr val="0E3449"/>
              </a:solidFill>
              <a:latin typeface="Inter"/>
              <a:ea typeface="Inter"/>
              <a:cs typeface="Inter"/>
              <a:sym typeface="Inter"/>
            </a:endParaRPr>
          </a:p>
          <a:p>
            <a:pPr indent="0" lvl="0" marL="0" marR="0" rtl="0" algn="l">
              <a:lnSpc>
                <a:spcPct val="100000"/>
              </a:lnSpc>
              <a:spcBef>
                <a:spcPts val="600"/>
              </a:spcBef>
              <a:spcAft>
                <a:spcPts val="0"/>
              </a:spcAft>
              <a:buClr>
                <a:schemeClr val="dk1"/>
              </a:buClr>
              <a:buSzPts val="2800"/>
              <a:buFont typeface="Arial"/>
              <a:buNone/>
            </a:pPr>
            <a:r>
              <a:t/>
            </a:r>
            <a:endParaRPr b="1" i="0" sz="4500" u="none" cap="none" strike="noStrike">
              <a:solidFill>
                <a:srgbClr val="0E3449"/>
              </a:solidFill>
              <a:latin typeface="Inter"/>
              <a:ea typeface="Inter"/>
              <a:cs typeface="Inter"/>
              <a:sym typeface="Inter"/>
            </a:endParaRPr>
          </a:p>
        </p:txBody>
      </p:sp>
      <p:pic>
        <p:nvPicPr>
          <p:cNvPr id="198" name="Google Shape;198;g3a1fa3a7511_0_88"/>
          <p:cNvPicPr preferRelativeResize="0"/>
          <p:nvPr/>
        </p:nvPicPr>
        <p:blipFill rotWithShape="1">
          <a:blip r:embed="rId3">
            <a:alphaModFix/>
          </a:blip>
          <a:srcRect b="0" l="0" r="0" t="0"/>
          <a:stretch/>
        </p:blipFill>
        <p:spPr>
          <a:xfrm>
            <a:off x="463375" y="482852"/>
            <a:ext cx="576900" cy="38590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a1fa3a7511_0_93"/>
          <p:cNvSpPr txBox="1"/>
          <p:nvPr>
            <p:ph idx="4294967295" type="ctrTitle"/>
          </p:nvPr>
        </p:nvSpPr>
        <p:spPr>
          <a:xfrm>
            <a:off x="1192678" y="0"/>
            <a:ext cx="6846600" cy="5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fr" sz="1700"/>
              <a:t>SQL &amp; NoSQL Queries</a:t>
            </a:r>
            <a:endParaRPr b="1" sz="1700"/>
          </a:p>
          <a:p>
            <a:pPr indent="0" lvl="0" marL="0" rtl="0" algn="l">
              <a:lnSpc>
                <a:spcPct val="115000"/>
              </a:lnSpc>
              <a:spcBef>
                <a:spcPts val="400"/>
              </a:spcBef>
              <a:spcAft>
                <a:spcPts val="0"/>
              </a:spcAft>
              <a:buClr>
                <a:schemeClr val="dk1"/>
              </a:buClr>
              <a:buSzPts val="1100"/>
              <a:buFont typeface="Arial"/>
              <a:buNone/>
            </a:pPr>
            <a:r>
              <a:t/>
            </a:r>
            <a:endParaRPr b="1" sz="1600"/>
          </a:p>
          <a:p>
            <a:pPr indent="0" lvl="0" marL="0" marR="0" rtl="0" algn="l">
              <a:lnSpc>
                <a:spcPct val="115000"/>
              </a:lnSpc>
              <a:spcBef>
                <a:spcPts val="1400"/>
              </a:spcBef>
              <a:spcAft>
                <a:spcPts val="0"/>
              </a:spcAft>
              <a:buClr>
                <a:schemeClr val="dk1"/>
              </a:buClr>
              <a:buSzPts val="2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40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sp>
        <p:nvSpPr>
          <p:cNvPr id="204" name="Google Shape;204;g3a1fa3a7511_0_93"/>
          <p:cNvSpPr txBox="1"/>
          <p:nvPr>
            <p:ph idx="4294967295" type="ctrTitle"/>
          </p:nvPr>
        </p:nvSpPr>
        <p:spPr>
          <a:xfrm>
            <a:off x="0" y="385900"/>
            <a:ext cx="9144000" cy="475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fr" sz="800"/>
              <a:t>Objectif</a:t>
            </a:r>
            <a:endParaRPr b="1" sz="800"/>
          </a:p>
          <a:p>
            <a:pPr indent="0" lvl="0" marL="0" rtl="0" algn="l">
              <a:lnSpc>
                <a:spcPct val="115000"/>
              </a:lnSpc>
              <a:spcBef>
                <a:spcPts val="1200"/>
              </a:spcBef>
              <a:spcAft>
                <a:spcPts val="0"/>
              </a:spcAft>
              <a:buNone/>
            </a:pPr>
            <a:r>
              <a:rPr lang="fr" sz="800"/>
              <a:t>Illustrer comment les modèles </a:t>
            </a:r>
            <a:r>
              <a:rPr b="1" lang="fr" sz="800"/>
              <a:t>OLAP (Snowflake)</a:t>
            </a:r>
            <a:r>
              <a:rPr lang="fr" sz="800"/>
              <a:t> et </a:t>
            </a:r>
            <a:r>
              <a:rPr b="1" lang="fr" sz="800"/>
              <a:t>NoSQL (MongoDB)</a:t>
            </a:r>
            <a:r>
              <a:rPr lang="fr" sz="800"/>
              <a:t> répondent aux questions métiers clés de Stripe :revenu, fraude, segmentation, logs et ML features.</a:t>
            </a:r>
            <a:endParaRPr sz="800"/>
          </a:p>
          <a:p>
            <a:pPr indent="0" lvl="0" marL="0" rtl="0" algn="l">
              <a:lnSpc>
                <a:spcPct val="115000"/>
              </a:lnSpc>
              <a:spcBef>
                <a:spcPts val="1400"/>
              </a:spcBef>
              <a:spcAft>
                <a:spcPts val="0"/>
              </a:spcAft>
              <a:buNone/>
            </a:pPr>
            <a:r>
              <a:rPr b="1" lang="fr" sz="800"/>
              <a:t>Requêtes SQL – Snowflake</a:t>
            </a:r>
            <a:endParaRPr b="1" sz="800"/>
          </a:p>
          <a:p>
            <a:pPr indent="0" lvl="0" marL="0" rtl="0" algn="l">
              <a:lnSpc>
                <a:spcPct val="115000"/>
              </a:lnSpc>
              <a:spcBef>
                <a:spcPts val="400"/>
              </a:spcBef>
              <a:spcAft>
                <a:spcPts val="0"/>
              </a:spcAft>
              <a:buNone/>
            </a:pPr>
            <a:r>
              <a:rPr b="1" lang="fr" sz="800"/>
              <a:t>Question métier :</a:t>
            </a:r>
            <a:endParaRPr b="1" sz="800"/>
          </a:p>
          <a:p>
            <a:pPr indent="0" lvl="0" marL="0" rtl="0" algn="l">
              <a:lnSpc>
                <a:spcPct val="115000"/>
              </a:lnSpc>
              <a:spcBef>
                <a:spcPts val="0"/>
              </a:spcBef>
              <a:spcAft>
                <a:spcPts val="0"/>
              </a:spcAft>
              <a:buNone/>
            </a:pPr>
            <a:r>
              <a:t/>
            </a:r>
            <a:endParaRPr b="1" sz="800"/>
          </a:p>
          <a:p>
            <a:pPr indent="0" lvl="0" marL="0" rtl="0" algn="l">
              <a:lnSpc>
                <a:spcPct val="115000"/>
              </a:lnSpc>
              <a:spcBef>
                <a:spcPts val="0"/>
              </a:spcBef>
              <a:spcAft>
                <a:spcPts val="0"/>
              </a:spcAft>
              <a:buNone/>
            </a:pPr>
            <a:r>
              <a:rPr lang="fr" sz="800"/>
              <a:t>“Quels sont les clients à fort potentiel (fréquence et montant élevés) ?” -&gt; </a:t>
            </a:r>
            <a:r>
              <a:rPr b="1" lang="fr" sz="800"/>
              <a:t>segmentation client</a:t>
            </a:r>
            <a:r>
              <a:rPr lang="fr" sz="800"/>
              <a:t> </a:t>
            </a:r>
            <a:endParaRPr sz="8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i="1" lang="fr" sz="700"/>
              <a:t>WITH customer_metrics AS (</a:t>
            </a:r>
            <a:endParaRPr i="1" sz="700"/>
          </a:p>
          <a:p>
            <a:pPr indent="0" lvl="0" marL="0" rtl="0" algn="l">
              <a:lnSpc>
                <a:spcPct val="115000"/>
              </a:lnSpc>
              <a:spcBef>
                <a:spcPts val="0"/>
              </a:spcBef>
              <a:spcAft>
                <a:spcPts val="0"/>
              </a:spcAft>
              <a:buNone/>
            </a:pPr>
            <a:r>
              <a:rPr i="1" lang="fr" sz="700"/>
              <a:t>    SELECT</a:t>
            </a:r>
            <a:endParaRPr i="1" sz="700"/>
          </a:p>
          <a:p>
            <a:pPr indent="0" lvl="0" marL="0" rtl="0" algn="l">
              <a:lnSpc>
                <a:spcPct val="115000"/>
              </a:lnSpc>
              <a:spcBef>
                <a:spcPts val="0"/>
              </a:spcBef>
              <a:spcAft>
                <a:spcPts val="0"/>
              </a:spcAft>
              <a:buNone/>
            </a:pPr>
            <a:r>
              <a:rPr i="1" lang="fr" sz="700"/>
              <a:t>        c.customer_id,</a:t>
            </a:r>
            <a:endParaRPr i="1" sz="700"/>
          </a:p>
          <a:p>
            <a:pPr indent="0" lvl="0" marL="0" rtl="0" algn="l">
              <a:lnSpc>
                <a:spcPct val="115000"/>
              </a:lnSpc>
              <a:spcBef>
                <a:spcPts val="0"/>
              </a:spcBef>
              <a:spcAft>
                <a:spcPts val="0"/>
              </a:spcAft>
              <a:buNone/>
            </a:pPr>
            <a:r>
              <a:rPr i="1" lang="fr" sz="700"/>
              <a:t>        c.segment,</a:t>
            </a:r>
            <a:endParaRPr i="1" sz="700"/>
          </a:p>
          <a:p>
            <a:pPr indent="0" lvl="0" marL="0" rtl="0" algn="l">
              <a:lnSpc>
                <a:spcPct val="115000"/>
              </a:lnSpc>
              <a:spcBef>
                <a:spcPts val="0"/>
              </a:spcBef>
              <a:spcAft>
                <a:spcPts val="0"/>
              </a:spcAft>
              <a:buNone/>
            </a:pPr>
            <a:r>
              <a:rPr i="1" lang="fr" sz="700"/>
              <a:t>        COUNT(*) AS nb_transactions,</a:t>
            </a:r>
            <a:endParaRPr i="1" sz="700"/>
          </a:p>
          <a:p>
            <a:pPr indent="0" lvl="0" marL="0" rtl="0" algn="l">
              <a:lnSpc>
                <a:spcPct val="115000"/>
              </a:lnSpc>
              <a:spcBef>
                <a:spcPts val="0"/>
              </a:spcBef>
              <a:spcAft>
                <a:spcPts val="0"/>
              </a:spcAft>
              <a:buNone/>
            </a:pPr>
            <a:r>
              <a:rPr i="1" lang="fr" sz="700"/>
              <a:t>        SUM(f.amount_converted) AS total_spent,</a:t>
            </a:r>
            <a:endParaRPr i="1" sz="700"/>
          </a:p>
          <a:p>
            <a:pPr indent="0" lvl="0" marL="0" rtl="0" algn="l">
              <a:lnSpc>
                <a:spcPct val="115000"/>
              </a:lnSpc>
              <a:spcBef>
                <a:spcPts val="0"/>
              </a:spcBef>
              <a:spcAft>
                <a:spcPts val="0"/>
              </a:spcAft>
              <a:buNone/>
            </a:pPr>
            <a:r>
              <a:rPr i="1" lang="fr" sz="700"/>
              <a:t>        MAX(t.date) AS last_transaction_date</a:t>
            </a:r>
            <a:endParaRPr i="1" sz="700"/>
          </a:p>
          <a:p>
            <a:pPr indent="0" lvl="0" marL="0" rtl="0" algn="l">
              <a:lnSpc>
                <a:spcPct val="115000"/>
              </a:lnSpc>
              <a:spcBef>
                <a:spcPts val="0"/>
              </a:spcBef>
              <a:spcAft>
                <a:spcPts val="0"/>
              </a:spcAft>
              <a:buNone/>
            </a:pPr>
            <a:r>
              <a:rPr i="1" lang="fr" sz="700"/>
              <a:t>    FROM fact_payments f</a:t>
            </a:r>
            <a:endParaRPr i="1" sz="700"/>
          </a:p>
          <a:p>
            <a:pPr indent="0" lvl="0" marL="0" rtl="0" algn="l">
              <a:lnSpc>
                <a:spcPct val="115000"/>
              </a:lnSpc>
              <a:spcBef>
                <a:spcPts val="0"/>
              </a:spcBef>
              <a:spcAft>
                <a:spcPts val="0"/>
              </a:spcAft>
              <a:buNone/>
            </a:pPr>
            <a:r>
              <a:rPr i="1" lang="fr" sz="700"/>
              <a:t>    JOIN dim_customer c ON f.customer_key = c.customer_key</a:t>
            </a:r>
            <a:endParaRPr i="1" sz="700"/>
          </a:p>
          <a:p>
            <a:pPr indent="0" lvl="0" marL="0" rtl="0" algn="l">
              <a:lnSpc>
                <a:spcPct val="115000"/>
              </a:lnSpc>
              <a:spcBef>
                <a:spcPts val="0"/>
              </a:spcBef>
              <a:spcAft>
                <a:spcPts val="0"/>
              </a:spcAft>
              <a:buNone/>
            </a:pPr>
            <a:r>
              <a:rPr i="1" lang="fr" sz="700"/>
              <a:t>    JOIN dim_datetime t      ON f.datetime_key = t.datetime_key</a:t>
            </a:r>
            <a:endParaRPr i="1" sz="700"/>
          </a:p>
          <a:p>
            <a:pPr indent="0" lvl="0" marL="0" rtl="0" algn="l">
              <a:lnSpc>
                <a:spcPct val="115000"/>
              </a:lnSpc>
              <a:spcBef>
                <a:spcPts val="0"/>
              </a:spcBef>
              <a:spcAft>
                <a:spcPts val="0"/>
              </a:spcAft>
              <a:buNone/>
            </a:pPr>
            <a:r>
              <a:rPr i="1" lang="fr" sz="700"/>
              <a:t>    WHERE f.is_success = 1</a:t>
            </a:r>
            <a:endParaRPr i="1" sz="700"/>
          </a:p>
          <a:p>
            <a:pPr indent="0" lvl="0" marL="0" rtl="0" algn="l">
              <a:lnSpc>
                <a:spcPct val="115000"/>
              </a:lnSpc>
              <a:spcBef>
                <a:spcPts val="0"/>
              </a:spcBef>
              <a:spcAft>
                <a:spcPts val="0"/>
              </a:spcAft>
              <a:buNone/>
            </a:pPr>
            <a:r>
              <a:rPr i="1" lang="fr" sz="700"/>
              <a:t>    GROUP BY c.customer_id, c.segment</a:t>
            </a:r>
            <a:endParaRPr i="1" sz="700"/>
          </a:p>
          <a:p>
            <a:pPr indent="0" lvl="0" marL="0" rtl="0" algn="l">
              <a:lnSpc>
                <a:spcPct val="115000"/>
              </a:lnSpc>
              <a:spcBef>
                <a:spcPts val="0"/>
              </a:spcBef>
              <a:spcAft>
                <a:spcPts val="0"/>
              </a:spcAft>
              <a:buNone/>
            </a:pPr>
            <a:r>
              <a:rPr i="1" lang="fr" sz="700"/>
              <a:t>)</a:t>
            </a:r>
            <a:endParaRPr i="1" sz="700"/>
          </a:p>
          <a:p>
            <a:pPr indent="0" lvl="0" marL="0" rtl="0" algn="l">
              <a:lnSpc>
                <a:spcPct val="115000"/>
              </a:lnSpc>
              <a:spcBef>
                <a:spcPts val="0"/>
              </a:spcBef>
              <a:spcAft>
                <a:spcPts val="0"/>
              </a:spcAft>
              <a:buNone/>
            </a:pPr>
            <a:r>
              <a:rPr i="1" lang="fr" sz="700"/>
              <a:t>SELECT</a:t>
            </a:r>
            <a:endParaRPr i="1" sz="700"/>
          </a:p>
          <a:p>
            <a:pPr indent="0" lvl="0" marL="0" rtl="0" algn="l">
              <a:lnSpc>
                <a:spcPct val="115000"/>
              </a:lnSpc>
              <a:spcBef>
                <a:spcPts val="0"/>
              </a:spcBef>
              <a:spcAft>
                <a:spcPts val="0"/>
              </a:spcAft>
              <a:buNone/>
            </a:pPr>
            <a:r>
              <a:rPr i="1" lang="fr" sz="700"/>
              <a:t>    customer_id,</a:t>
            </a:r>
            <a:endParaRPr i="1" sz="700"/>
          </a:p>
          <a:p>
            <a:pPr indent="0" lvl="0" marL="0" rtl="0" algn="l">
              <a:lnSpc>
                <a:spcPct val="115000"/>
              </a:lnSpc>
              <a:spcBef>
                <a:spcPts val="0"/>
              </a:spcBef>
              <a:spcAft>
                <a:spcPts val="0"/>
              </a:spcAft>
              <a:buNone/>
            </a:pPr>
            <a:r>
              <a:rPr i="1" lang="fr" sz="700"/>
              <a:t>    segment,</a:t>
            </a:r>
            <a:endParaRPr i="1" sz="700"/>
          </a:p>
          <a:p>
            <a:pPr indent="0" lvl="0" marL="0" rtl="0" algn="l">
              <a:lnSpc>
                <a:spcPct val="115000"/>
              </a:lnSpc>
              <a:spcBef>
                <a:spcPts val="0"/>
              </a:spcBef>
              <a:spcAft>
                <a:spcPts val="0"/>
              </a:spcAft>
              <a:buNone/>
            </a:pPr>
            <a:r>
              <a:rPr i="1" lang="fr" sz="700"/>
              <a:t>    nb_transactions,</a:t>
            </a:r>
            <a:endParaRPr i="1" sz="700"/>
          </a:p>
          <a:p>
            <a:pPr indent="0" lvl="0" marL="0" rtl="0" algn="l">
              <a:lnSpc>
                <a:spcPct val="115000"/>
              </a:lnSpc>
              <a:spcBef>
                <a:spcPts val="0"/>
              </a:spcBef>
              <a:spcAft>
                <a:spcPts val="0"/>
              </a:spcAft>
              <a:buNone/>
            </a:pPr>
            <a:r>
              <a:rPr i="1" lang="fr" sz="700"/>
              <a:t>    total_spent,</a:t>
            </a:r>
            <a:endParaRPr i="1" sz="700"/>
          </a:p>
          <a:p>
            <a:pPr indent="0" lvl="0" marL="0" rtl="0" algn="l">
              <a:lnSpc>
                <a:spcPct val="115000"/>
              </a:lnSpc>
              <a:spcBef>
                <a:spcPts val="0"/>
              </a:spcBef>
              <a:spcAft>
                <a:spcPts val="0"/>
              </a:spcAft>
              <a:buNone/>
            </a:pPr>
            <a:r>
              <a:rPr i="1" lang="fr" sz="700"/>
              <a:t>    last_transaction_date,</a:t>
            </a:r>
            <a:endParaRPr i="1" sz="700"/>
          </a:p>
          <a:p>
            <a:pPr indent="0" lvl="0" marL="0" rtl="0" algn="l">
              <a:lnSpc>
                <a:spcPct val="115000"/>
              </a:lnSpc>
              <a:spcBef>
                <a:spcPts val="0"/>
              </a:spcBef>
              <a:spcAft>
                <a:spcPts val="0"/>
              </a:spcAft>
              <a:buNone/>
            </a:pPr>
            <a:r>
              <a:rPr i="1" lang="fr" sz="700"/>
              <a:t>    CASE</a:t>
            </a:r>
            <a:endParaRPr i="1" sz="700"/>
          </a:p>
          <a:p>
            <a:pPr indent="0" lvl="0" marL="0" rtl="0" algn="l">
              <a:lnSpc>
                <a:spcPct val="115000"/>
              </a:lnSpc>
              <a:spcBef>
                <a:spcPts val="0"/>
              </a:spcBef>
              <a:spcAft>
                <a:spcPts val="0"/>
              </a:spcAft>
              <a:buNone/>
            </a:pPr>
            <a:r>
              <a:rPr i="1" lang="fr" sz="700"/>
              <a:t>        WHEN total_spent &gt;= 10000 AND nb_transactions &gt;= 50 THEN 'High Value'</a:t>
            </a:r>
            <a:endParaRPr i="1" sz="700"/>
          </a:p>
          <a:p>
            <a:pPr indent="0" lvl="0" marL="0" rtl="0" algn="l">
              <a:lnSpc>
                <a:spcPct val="115000"/>
              </a:lnSpc>
              <a:spcBef>
                <a:spcPts val="0"/>
              </a:spcBef>
              <a:spcAft>
                <a:spcPts val="0"/>
              </a:spcAft>
              <a:buNone/>
            </a:pPr>
            <a:r>
              <a:rPr i="1" lang="fr" sz="700"/>
              <a:t>        WHEN total_spent &gt;= 2000 AND nb_transactions &gt;= 10 THEN 'Medium Value'</a:t>
            </a:r>
            <a:endParaRPr i="1" sz="700"/>
          </a:p>
          <a:p>
            <a:pPr indent="0" lvl="0" marL="0" rtl="0" algn="l">
              <a:lnSpc>
                <a:spcPct val="115000"/>
              </a:lnSpc>
              <a:spcBef>
                <a:spcPts val="0"/>
              </a:spcBef>
              <a:spcAft>
                <a:spcPts val="0"/>
              </a:spcAft>
              <a:buNone/>
            </a:pPr>
            <a:r>
              <a:rPr i="1" lang="fr" sz="700"/>
              <a:t>        ELSE 'Low Value'</a:t>
            </a:r>
            <a:endParaRPr i="1" sz="700"/>
          </a:p>
          <a:p>
            <a:pPr indent="0" lvl="0" marL="0" rtl="0" algn="l">
              <a:lnSpc>
                <a:spcPct val="115000"/>
              </a:lnSpc>
              <a:spcBef>
                <a:spcPts val="0"/>
              </a:spcBef>
              <a:spcAft>
                <a:spcPts val="0"/>
              </a:spcAft>
              <a:buNone/>
            </a:pPr>
            <a:r>
              <a:rPr i="1" lang="fr" sz="700"/>
              <a:t>    END AS customer_value_segment</a:t>
            </a:r>
            <a:endParaRPr i="1" sz="700"/>
          </a:p>
          <a:p>
            <a:pPr indent="0" lvl="0" marL="0" rtl="0" algn="l">
              <a:lnSpc>
                <a:spcPct val="115000"/>
              </a:lnSpc>
              <a:spcBef>
                <a:spcPts val="0"/>
              </a:spcBef>
              <a:spcAft>
                <a:spcPts val="0"/>
              </a:spcAft>
              <a:buNone/>
            </a:pPr>
            <a:r>
              <a:rPr i="1" lang="fr" sz="700"/>
              <a:t>FROM customer_metrics</a:t>
            </a:r>
            <a:endParaRPr i="1" sz="700"/>
          </a:p>
          <a:p>
            <a:pPr indent="0" lvl="0" marL="0" rtl="0" algn="l">
              <a:lnSpc>
                <a:spcPct val="115000"/>
              </a:lnSpc>
              <a:spcBef>
                <a:spcPts val="0"/>
              </a:spcBef>
              <a:spcAft>
                <a:spcPts val="0"/>
              </a:spcAft>
              <a:buNone/>
            </a:pPr>
            <a:r>
              <a:rPr i="1" lang="fr" sz="700"/>
              <a:t>ORDER BY total_spent DESC;</a:t>
            </a:r>
            <a:endParaRPr i="1" sz="700"/>
          </a:p>
          <a:p>
            <a:pPr indent="0" lvl="0" marL="457200" rtl="0" algn="l">
              <a:lnSpc>
                <a:spcPct val="115000"/>
              </a:lnSpc>
              <a:spcBef>
                <a:spcPts val="0"/>
              </a:spcBef>
              <a:spcAft>
                <a:spcPts val="0"/>
              </a:spcAft>
              <a:buNone/>
            </a:pPr>
            <a:r>
              <a:t/>
            </a:r>
            <a:endParaRPr sz="1000">
              <a:solidFill>
                <a:srgbClr val="4B5258"/>
              </a:solidFill>
              <a:latin typeface="Inter Medium"/>
              <a:ea typeface="Inter Medium"/>
              <a:cs typeface="Inter Medium"/>
              <a:sym typeface="Inter Medium"/>
            </a:endParaRPr>
          </a:p>
        </p:txBody>
      </p:sp>
      <p:pic>
        <p:nvPicPr>
          <p:cNvPr id="205" name="Google Shape;205;g3a1fa3a7511_0_93"/>
          <p:cNvPicPr preferRelativeResize="0"/>
          <p:nvPr/>
        </p:nvPicPr>
        <p:blipFill rotWithShape="1">
          <a:blip r:embed="rId3">
            <a:alphaModFix/>
          </a:blip>
          <a:srcRect b="0" l="0" r="0" t="0"/>
          <a:stretch/>
        </p:blipFill>
        <p:spPr>
          <a:xfrm>
            <a:off x="0" y="2"/>
            <a:ext cx="576900" cy="38590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a1fa3a7511_0_103"/>
          <p:cNvSpPr txBox="1"/>
          <p:nvPr>
            <p:ph idx="4294967295" type="ctrTitle"/>
          </p:nvPr>
        </p:nvSpPr>
        <p:spPr>
          <a:xfrm>
            <a:off x="1192678" y="0"/>
            <a:ext cx="6846600" cy="5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fr" sz="1700"/>
              <a:t>SQL &amp; NoSQL Queries</a:t>
            </a:r>
            <a:endParaRPr b="1" sz="1700"/>
          </a:p>
          <a:p>
            <a:pPr indent="0" lvl="0" marL="0" rtl="0" algn="l">
              <a:lnSpc>
                <a:spcPct val="115000"/>
              </a:lnSpc>
              <a:spcBef>
                <a:spcPts val="400"/>
              </a:spcBef>
              <a:spcAft>
                <a:spcPts val="0"/>
              </a:spcAft>
              <a:buClr>
                <a:schemeClr val="dk1"/>
              </a:buClr>
              <a:buSzPts val="1100"/>
              <a:buFont typeface="Arial"/>
              <a:buNone/>
            </a:pPr>
            <a:r>
              <a:t/>
            </a:r>
            <a:endParaRPr b="1" sz="1600"/>
          </a:p>
          <a:p>
            <a:pPr indent="0" lvl="0" marL="0" marR="0" rtl="0" algn="l">
              <a:lnSpc>
                <a:spcPct val="115000"/>
              </a:lnSpc>
              <a:spcBef>
                <a:spcPts val="1400"/>
              </a:spcBef>
              <a:spcAft>
                <a:spcPts val="0"/>
              </a:spcAft>
              <a:buClr>
                <a:schemeClr val="dk1"/>
              </a:buClr>
              <a:buSzPts val="2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2800"/>
              <a:buFont typeface="Arial"/>
              <a:buNone/>
            </a:pPr>
            <a:br>
              <a:rPr b="0" i="1" lang="fr" sz="1100" u="none" cap="none" strike="noStrike">
                <a:solidFill>
                  <a:schemeClr val="dk1"/>
                </a:solidFill>
                <a:latin typeface="Arial"/>
                <a:ea typeface="Arial"/>
                <a:cs typeface="Arial"/>
                <a:sym typeface="Arial"/>
              </a:rPr>
            </a:b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40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sp>
        <p:nvSpPr>
          <p:cNvPr id="211" name="Google Shape;211;g3a1fa3a7511_0_103"/>
          <p:cNvSpPr txBox="1"/>
          <p:nvPr>
            <p:ph idx="4294967295" type="ctrTitle"/>
          </p:nvPr>
        </p:nvSpPr>
        <p:spPr>
          <a:xfrm>
            <a:off x="0" y="385900"/>
            <a:ext cx="9144000" cy="475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fr" sz="1000"/>
              <a:t>Requêtes NoSQL – MongoDB</a:t>
            </a:r>
            <a:endParaRPr b="1" sz="1000"/>
          </a:p>
          <a:p>
            <a:pPr indent="0" lvl="0" marL="0" rtl="0" algn="l">
              <a:lnSpc>
                <a:spcPct val="115000"/>
              </a:lnSpc>
              <a:spcBef>
                <a:spcPts val="400"/>
              </a:spcBef>
              <a:spcAft>
                <a:spcPts val="0"/>
              </a:spcAft>
              <a:buNone/>
            </a:pPr>
            <a:r>
              <a:rPr b="1" lang="fr" sz="1000"/>
              <a:t>Question métier :</a:t>
            </a:r>
            <a:endParaRPr b="1" sz="1000"/>
          </a:p>
          <a:p>
            <a:pPr indent="0" lvl="0" marL="0" rtl="0" algn="l">
              <a:lnSpc>
                <a:spcPct val="115000"/>
              </a:lnSpc>
              <a:spcBef>
                <a:spcPts val="0"/>
              </a:spcBef>
              <a:spcAft>
                <a:spcPts val="0"/>
              </a:spcAft>
              <a:buNone/>
            </a:pPr>
            <a:r>
              <a:t/>
            </a:r>
            <a:endParaRPr b="1" sz="1000"/>
          </a:p>
          <a:p>
            <a:pPr indent="0" lvl="0" marL="0" rtl="0" algn="l">
              <a:lnSpc>
                <a:spcPct val="115000"/>
              </a:lnSpc>
              <a:spcBef>
                <a:spcPts val="0"/>
              </a:spcBef>
              <a:spcAft>
                <a:spcPts val="0"/>
              </a:spcAft>
              <a:buNone/>
            </a:pPr>
            <a:r>
              <a:rPr lang="fr" sz="1000"/>
              <a:t>“Quelles sont les dernières sessions d’un client donné, avec les événements associés ?”</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i="1" lang="fr" sz="1000"/>
              <a:t>// Récupérer les 10 dernières sessions d’un client</a:t>
            </a:r>
            <a:endParaRPr i="1" sz="1000"/>
          </a:p>
          <a:p>
            <a:pPr indent="0" lvl="0" marL="0" rtl="0" algn="l">
              <a:lnSpc>
                <a:spcPct val="115000"/>
              </a:lnSpc>
              <a:spcBef>
                <a:spcPts val="0"/>
              </a:spcBef>
              <a:spcAft>
                <a:spcPts val="0"/>
              </a:spcAft>
              <a:buNone/>
            </a:pPr>
            <a:r>
              <a:rPr i="1" lang="fr" sz="1000"/>
              <a:t>db.user_sessions.find(</a:t>
            </a:r>
            <a:endParaRPr i="1" sz="1000"/>
          </a:p>
          <a:p>
            <a:pPr indent="0" lvl="0" marL="0" rtl="0" algn="l">
              <a:lnSpc>
                <a:spcPct val="115000"/>
              </a:lnSpc>
              <a:spcBef>
                <a:spcPts val="0"/>
              </a:spcBef>
              <a:spcAft>
                <a:spcPts val="0"/>
              </a:spcAft>
              <a:buNone/>
            </a:pPr>
            <a:r>
              <a:rPr i="1" lang="fr" sz="1000"/>
              <a:t>  { customer_id: "cus_7K2A5N39" },</a:t>
            </a:r>
            <a:endParaRPr i="1" sz="1000"/>
          </a:p>
          <a:p>
            <a:pPr indent="0" lvl="0" marL="0" rtl="0" algn="l">
              <a:lnSpc>
                <a:spcPct val="115000"/>
              </a:lnSpc>
              <a:spcBef>
                <a:spcPts val="0"/>
              </a:spcBef>
              <a:spcAft>
                <a:spcPts val="0"/>
              </a:spcAft>
              <a:buNone/>
            </a:pPr>
            <a:r>
              <a:rPr i="1" lang="fr" sz="1000"/>
              <a:t>  {</a:t>
            </a:r>
            <a:endParaRPr i="1" sz="1000"/>
          </a:p>
          <a:p>
            <a:pPr indent="0" lvl="0" marL="0" rtl="0" algn="l">
              <a:lnSpc>
                <a:spcPct val="115000"/>
              </a:lnSpc>
              <a:spcBef>
                <a:spcPts val="0"/>
              </a:spcBef>
              <a:spcAft>
                <a:spcPts val="0"/>
              </a:spcAft>
              <a:buNone/>
            </a:pPr>
            <a:r>
              <a:rPr i="1" lang="fr" sz="1000"/>
              <a:t>    _id: 0,</a:t>
            </a:r>
            <a:endParaRPr i="1" sz="1000"/>
          </a:p>
          <a:p>
            <a:pPr indent="0" lvl="0" marL="0" rtl="0" algn="l">
              <a:lnSpc>
                <a:spcPct val="115000"/>
              </a:lnSpc>
              <a:spcBef>
                <a:spcPts val="0"/>
              </a:spcBef>
              <a:spcAft>
                <a:spcPts val="0"/>
              </a:spcAft>
              <a:buNone/>
            </a:pPr>
            <a:r>
              <a:rPr i="1" lang="fr" sz="1000"/>
              <a:t>    session_id: 1,</a:t>
            </a:r>
            <a:endParaRPr i="1" sz="1000"/>
          </a:p>
          <a:p>
            <a:pPr indent="0" lvl="0" marL="0" rtl="0" algn="l">
              <a:lnSpc>
                <a:spcPct val="115000"/>
              </a:lnSpc>
              <a:spcBef>
                <a:spcPts val="0"/>
              </a:spcBef>
              <a:spcAft>
                <a:spcPts val="0"/>
              </a:spcAft>
              <a:buNone/>
            </a:pPr>
            <a:r>
              <a:rPr i="1" lang="fr" sz="1000"/>
              <a:t>    started_at: 1,</a:t>
            </a:r>
            <a:endParaRPr i="1" sz="1000"/>
          </a:p>
          <a:p>
            <a:pPr indent="0" lvl="0" marL="0" rtl="0" algn="l">
              <a:lnSpc>
                <a:spcPct val="115000"/>
              </a:lnSpc>
              <a:spcBef>
                <a:spcPts val="0"/>
              </a:spcBef>
              <a:spcAft>
                <a:spcPts val="0"/>
              </a:spcAft>
              <a:buNone/>
            </a:pPr>
            <a:r>
              <a:rPr i="1" lang="fr" sz="1000"/>
              <a:t>    ended_at: 1,</a:t>
            </a:r>
            <a:endParaRPr i="1" sz="1000"/>
          </a:p>
          <a:p>
            <a:pPr indent="0" lvl="0" marL="0" rtl="0" algn="l">
              <a:lnSpc>
                <a:spcPct val="115000"/>
              </a:lnSpc>
              <a:spcBef>
                <a:spcPts val="0"/>
              </a:spcBef>
              <a:spcAft>
                <a:spcPts val="0"/>
              </a:spcAft>
              <a:buNone/>
            </a:pPr>
            <a:r>
              <a:rPr i="1" lang="fr" sz="1000"/>
              <a:t>    device: 1,</a:t>
            </a:r>
            <a:endParaRPr i="1" sz="1000"/>
          </a:p>
          <a:p>
            <a:pPr indent="0" lvl="0" marL="0" rtl="0" algn="l">
              <a:lnSpc>
                <a:spcPct val="115000"/>
              </a:lnSpc>
              <a:spcBef>
                <a:spcPts val="0"/>
              </a:spcBef>
              <a:spcAft>
                <a:spcPts val="0"/>
              </a:spcAft>
              <a:buNone/>
            </a:pPr>
            <a:r>
              <a:rPr i="1" lang="fr" sz="1000"/>
              <a:t>    events: 1</a:t>
            </a:r>
            <a:endParaRPr i="1" sz="1000"/>
          </a:p>
          <a:p>
            <a:pPr indent="0" lvl="0" marL="0" rtl="0" algn="l">
              <a:lnSpc>
                <a:spcPct val="115000"/>
              </a:lnSpc>
              <a:spcBef>
                <a:spcPts val="0"/>
              </a:spcBef>
              <a:spcAft>
                <a:spcPts val="0"/>
              </a:spcAft>
              <a:buNone/>
            </a:pPr>
            <a:r>
              <a:rPr i="1" lang="fr" sz="1000"/>
              <a:t>  }</a:t>
            </a:r>
            <a:endParaRPr i="1" sz="1000"/>
          </a:p>
          <a:p>
            <a:pPr indent="0" lvl="0" marL="0" rtl="0" algn="l">
              <a:lnSpc>
                <a:spcPct val="115000"/>
              </a:lnSpc>
              <a:spcBef>
                <a:spcPts val="0"/>
              </a:spcBef>
              <a:spcAft>
                <a:spcPts val="0"/>
              </a:spcAft>
              <a:buNone/>
            </a:pPr>
            <a:r>
              <a:rPr i="1" lang="fr" sz="1000"/>
              <a:t>).sort({ started_at: -1 }).limit(10);</a:t>
            </a:r>
            <a:endParaRPr i="1" sz="1000"/>
          </a:p>
          <a:p>
            <a:pPr indent="0" lvl="0" marL="0" rtl="0" algn="l">
              <a:lnSpc>
                <a:spcPct val="115000"/>
              </a:lnSpc>
              <a:spcBef>
                <a:spcPts val="1400"/>
              </a:spcBef>
              <a:spcAft>
                <a:spcPts val="0"/>
              </a:spcAft>
              <a:buNone/>
            </a:pPr>
            <a:r>
              <a:rPr b="1" lang="fr" sz="1000"/>
              <a:t>Synthèse</a:t>
            </a:r>
            <a:endParaRPr b="1" sz="1000"/>
          </a:p>
          <a:p>
            <a:pPr indent="0" lvl="0" marL="139700" rtl="0" algn="l">
              <a:lnSpc>
                <a:spcPct val="115000"/>
              </a:lnSpc>
              <a:spcBef>
                <a:spcPts val="400"/>
              </a:spcBef>
              <a:spcAft>
                <a:spcPts val="0"/>
              </a:spcAft>
              <a:buNone/>
            </a:pPr>
            <a:r>
              <a:rPr lang="fr" sz="1000">
                <a:solidFill>
                  <a:srgbClr val="0E0E0E"/>
                </a:solidFill>
              </a:rPr>
              <a:t>Les requêtes SQL et NoSQL illustrent la </a:t>
            </a:r>
            <a:r>
              <a:rPr b="1" lang="fr" sz="1000">
                <a:solidFill>
                  <a:srgbClr val="0E0E0E"/>
                </a:solidFill>
              </a:rPr>
              <a:t>complémentarité entre OLAP et NoSQL</a:t>
            </a:r>
            <a:r>
              <a:rPr lang="fr" sz="1000">
                <a:solidFill>
                  <a:srgbClr val="0E0E0E"/>
                </a:solidFill>
              </a:rPr>
              <a:t> :</a:t>
            </a:r>
            <a:endParaRPr sz="1000">
              <a:solidFill>
                <a:srgbClr val="0E0E0E"/>
              </a:solidFill>
            </a:endParaRPr>
          </a:p>
          <a:p>
            <a:pPr indent="-292100" lvl="0" marL="457200" rtl="0" algn="l">
              <a:lnSpc>
                <a:spcPct val="115000"/>
              </a:lnSpc>
              <a:spcBef>
                <a:spcPts val="1200"/>
              </a:spcBef>
              <a:spcAft>
                <a:spcPts val="0"/>
              </a:spcAft>
              <a:buSzPts val="1000"/>
              <a:buChar char="●"/>
            </a:pPr>
            <a:r>
              <a:rPr b="1" lang="fr" sz="1000">
                <a:solidFill>
                  <a:srgbClr val="0E0E0E"/>
                </a:solidFill>
              </a:rPr>
              <a:t>Snowflake</a:t>
            </a:r>
            <a:r>
              <a:rPr lang="fr" sz="1000">
                <a:solidFill>
                  <a:srgbClr val="0E0E0E"/>
                </a:solidFill>
              </a:rPr>
              <a:t> → agrégations analytiques et indicateurs business.</a:t>
            </a:r>
            <a:endParaRPr sz="1000">
              <a:solidFill>
                <a:srgbClr val="0E0E0E"/>
              </a:solidFill>
            </a:endParaRPr>
          </a:p>
          <a:p>
            <a:pPr indent="-298450" lvl="0" marL="457200" rtl="0" algn="l">
              <a:lnSpc>
                <a:spcPct val="115000"/>
              </a:lnSpc>
              <a:spcBef>
                <a:spcPts val="0"/>
              </a:spcBef>
              <a:spcAft>
                <a:spcPts val="0"/>
              </a:spcAft>
              <a:buSzPts val="1100"/>
              <a:buChar char="●"/>
            </a:pPr>
            <a:r>
              <a:rPr b="1" lang="fr" sz="1000">
                <a:solidFill>
                  <a:srgbClr val="0E0E0E"/>
                </a:solidFill>
              </a:rPr>
              <a:t>MongoDB</a:t>
            </a:r>
            <a:r>
              <a:rPr lang="fr" sz="1000">
                <a:solidFill>
                  <a:srgbClr val="0E0E0E"/>
                </a:solidFill>
              </a:rPr>
              <a:t> → exploration fine des logs, sessions et features ML en temps réel.</a:t>
            </a:r>
            <a:br>
              <a:rPr lang="fr" sz="1050">
                <a:solidFill>
                  <a:srgbClr val="0E0E0E"/>
                </a:solidFill>
              </a:rPr>
            </a:br>
            <a:endParaRPr sz="1050">
              <a:solidFill>
                <a:srgbClr val="0E0E0E"/>
              </a:solidFill>
            </a:endParaRPr>
          </a:p>
          <a:p>
            <a:pPr indent="0" lvl="0" marL="0" rtl="0" algn="l">
              <a:lnSpc>
                <a:spcPct val="115000"/>
              </a:lnSpc>
              <a:spcBef>
                <a:spcPts val="1400"/>
              </a:spcBef>
              <a:spcAft>
                <a:spcPts val="0"/>
              </a:spcAft>
              <a:buNone/>
            </a:pPr>
            <a:r>
              <a:t/>
            </a:r>
            <a:endParaRPr b="1" sz="800"/>
          </a:p>
          <a:p>
            <a:pPr indent="0" lvl="0" marL="457200" rtl="0" algn="l">
              <a:lnSpc>
                <a:spcPct val="115000"/>
              </a:lnSpc>
              <a:spcBef>
                <a:spcPts val="400"/>
              </a:spcBef>
              <a:spcAft>
                <a:spcPts val="0"/>
              </a:spcAft>
              <a:buNone/>
            </a:pPr>
            <a:r>
              <a:t/>
            </a:r>
            <a:endParaRPr sz="1000">
              <a:solidFill>
                <a:srgbClr val="4B5258"/>
              </a:solidFill>
              <a:latin typeface="Inter Medium"/>
              <a:ea typeface="Inter Medium"/>
              <a:cs typeface="Inter Medium"/>
              <a:sym typeface="Inter Medium"/>
            </a:endParaRPr>
          </a:p>
        </p:txBody>
      </p:sp>
      <p:pic>
        <p:nvPicPr>
          <p:cNvPr id="212" name="Google Shape;212;g3a1fa3a7511_0_103"/>
          <p:cNvPicPr preferRelativeResize="0"/>
          <p:nvPr/>
        </p:nvPicPr>
        <p:blipFill rotWithShape="1">
          <a:blip r:embed="rId3">
            <a:alphaModFix/>
          </a:blip>
          <a:srcRect b="0" l="0" r="0" t="0"/>
          <a:stretch/>
        </p:blipFill>
        <p:spPr>
          <a:xfrm>
            <a:off x="0" y="2"/>
            <a:ext cx="576900" cy="38590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5774"/>
        </a:solidFill>
      </p:bgPr>
    </p:bg>
    <p:spTree>
      <p:nvGrpSpPr>
        <p:cNvPr id="216" name="Shape 216"/>
        <p:cNvGrpSpPr/>
        <p:nvPr/>
      </p:nvGrpSpPr>
      <p:grpSpPr>
        <a:xfrm>
          <a:off x="0" y="0"/>
          <a:ext cx="0" cy="0"/>
          <a:chOff x="0" y="0"/>
          <a:chExt cx="0" cy="0"/>
        </a:xfrm>
      </p:grpSpPr>
      <p:sp>
        <p:nvSpPr>
          <p:cNvPr id="217" name="Google Shape;217;p6"/>
          <p:cNvSpPr txBox="1"/>
          <p:nvPr>
            <p:ph idx="4294967295" type="ctrTitle"/>
          </p:nvPr>
        </p:nvSpPr>
        <p:spPr>
          <a:xfrm>
            <a:off x="40550" y="446050"/>
            <a:ext cx="9103500" cy="469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fr" sz="800">
                <a:solidFill>
                  <a:schemeClr val="lt1"/>
                </a:solidFill>
              </a:rPr>
              <a:t>Conclusion – Architecture de données Stripe</a:t>
            </a:r>
            <a:endParaRPr b="1" sz="8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b="1" lang="fr" sz="800">
                <a:solidFill>
                  <a:schemeClr val="lt1"/>
                </a:solidFill>
              </a:rPr>
              <a:t>Le projet Stripe Data Architecture propose une infrastructure unifiée, scalable et sécurisée permettant d’exploiter de manière cohérente les données transactionnelles (OLTP), analytiques (OLAP) et non structurées (NoSQL).</a:t>
            </a:r>
            <a:endParaRPr b="1" sz="8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b="1" lang="fr" sz="800">
                <a:solidFill>
                  <a:schemeClr val="lt1"/>
                </a:solidFill>
              </a:rPr>
              <a:t>Cette architecture repose sur une approche modulaire et orientée cloud, construite autour de technologies complémentaires :</a:t>
            </a:r>
            <a:endParaRPr b="1" sz="800">
              <a:solidFill>
                <a:schemeClr val="lt1"/>
              </a:solidFill>
            </a:endParaRPr>
          </a:p>
          <a:p>
            <a:pPr indent="457200" lvl="0" marL="0" rtl="0" algn="l">
              <a:lnSpc>
                <a:spcPct val="115000"/>
              </a:lnSpc>
              <a:spcBef>
                <a:spcPts val="1200"/>
              </a:spcBef>
              <a:spcAft>
                <a:spcPts val="0"/>
              </a:spcAft>
              <a:buNone/>
            </a:pPr>
            <a:r>
              <a:rPr b="1" lang="fr" sz="800">
                <a:solidFill>
                  <a:schemeClr val="lt1"/>
                </a:solidFill>
              </a:rPr>
              <a:t>PostgreSQL (RDS) pour la fiabilité transactionnelle,</a:t>
            </a:r>
            <a:br>
              <a:rPr b="1" lang="fr" sz="800">
                <a:solidFill>
                  <a:schemeClr val="lt1"/>
                </a:solidFill>
              </a:rPr>
            </a:br>
            <a:r>
              <a:rPr b="1" lang="fr" sz="800">
                <a:solidFill>
                  <a:schemeClr val="lt1"/>
                </a:solidFill>
              </a:rPr>
              <a:t>	MongoDB Atlas pour la flexibilité des données semi-structurées,</a:t>
            </a:r>
            <a:br>
              <a:rPr b="1" lang="fr" sz="800">
                <a:solidFill>
                  <a:schemeClr val="lt1"/>
                </a:solidFill>
              </a:rPr>
            </a:br>
            <a:r>
              <a:rPr b="1" lang="fr" sz="800">
                <a:solidFill>
                  <a:schemeClr val="lt1"/>
                </a:solidFill>
              </a:rPr>
              <a:t>	Snowflake pour la performance analytique et la gouvernance,</a:t>
            </a:r>
            <a:br>
              <a:rPr b="1" lang="fr" sz="800">
                <a:solidFill>
                  <a:schemeClr val="lt1"/>
                </a:solidFill>
              </a:rPr>
            </a:br>
            <a:r>
              <a:rPr b="1" lang="fr" sz="800">
                <a:solidFill>
                  <a:schemeClr val="lt1"/>
                </a:solidFill>
              </a:rPr>
              <a:t>	Airbyte, dbt et Airflow pour l’ingestion, la transformation et l’orchestration des pipelines de données,</a:t>
            </a:r>
            <a:br>
              <a:rPr b="1" lang="fr" sz="800">
                <a:solidFill>
                  <a:schemeClr val="lt1"/>
                </a:solidFill>
              </a:rPr>
            </a:br>
            <a:r>
              <a:rPr b="1" lang="fr" sz="800">
                <a:solidFill>
                  <a:schemeClr val="lt1"/>
                </a:solidFill>
              </a:rPr>
              <a:t>	EKS / Ray, MLflow et FastAPI pour l’entraînement, le déploiement et le suivi des modèles d’intelligence artificielle.</a:t>
            </a:r>
            <a:br>
              <a:rPr b="1" lang="fr" sz="800">
                <a:solidFill>
                  <a:schemeClr val="lt1"/>
                </a:solidFill>
              </a:rPr>
            </a:br>
            <a:endParaRPr b="1" sz="8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b="1" lang="fr" sz="800">
                <a:solidFill>
                  <a:schemeClr val="lt1"/>
                </a:solidFill>
              </a:rPr>
              <a:t>L’ensemble forme une chaîne ELT complète et automatisée, capable d’alimenter la Business Intelligence (Tableau), les modèles de Machine Learning (LightGBM, LSTM), les processus de monitoring continu, et de continuous training (Evidently, Jenkins CI/CD, CT).</a:t>
            </a:r>
            <a:endParaRPr b="1" sz="8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b="1" lang="fr" sz="800">
                <a:solidFill>
                  <a:schemeClr val="lt1"/>
                </a:solidFill>
              </a:rPr>
              <a:t>Sur le plan de la gouvernance, le système garantit :</a:t>
            </a:r>
            <a:endParaRPr b="1" sz="800">
              <a:solidFill>
                <a:schemeClr val="lt1"/>
              </a:solidFill>
            </a:endParaRPr>
          </a:p>
          <a:p>
            <a:pPr indent="457200" lvl="0" marL="0" rtl="0" algn="l">
              <a:lnSpc>
                <a:spcPct val="115000"/>
              </a:lnSpc>
              <a:spcBef>
                <a:spcPts val="1200"/>
              </a:spcBef>
              <a:spcAft>
                <a:spcPts val="0"/>
              </a:spcAft>
              <a:buNone/>
            </a:pPr>
            <a:r>
              <a:rPr b="1" lang="fr" sz="800">
                <a:solidFill>
                  <a:schemeClr val="lt1"/>
                </a:solidFill>
              </a:rPr>
              <a:t>la sécurité des données (chiffrement AES-256, réseau isolé VPC, contrôle RBAC),</a:t>
            </a:r>
            <a:br>
              <a:rPr b="1" lang="fr" sz="800">
                <a:solidFill>
                  <a:schemeClr val="lt1"/>
                </a:solidFill>
              </a:rPr>
            </a:br>
            <a:r>
              <a:rPr b="1" lang="fr" sz="800">
                <a:solidFill>
                  <a:schemeClr val="lt1"/>
                </a:solidFill>
              </a:rPr>
              <a:t>	la conformité réglementaire (GDPR, PCI-DSS, CCPA),</a:t>
            </a:r>
            <a:br>
              <a:rPr b="1" lang="fr" sz="800">
                <a:solidFill>
                  <a:schemeClr val="lt1"/>
                </a:solidFill>
              </a:rPr>
            </a:br>
            <a:r>
              <a:rPr b="1" lang="fr" sz="800">
                <a:solidFill>
                  <a:schemeClr val="lt1"/>
                </a:solidFill>
              </a:rPr>
              <a:t>	la traçabilité et la qualité des données sur tout le cycle de vie.</a:t>
            </a:r>
            <a:endParaRPr b="1" sz="800">
              <a:solidFill>
                <a:schemeClr val="lt1"/>
              </a:solidFill>
            </a:endParaRPr>
          </a:p>
          <a:p>
            <a:pPr indent="457200" lvl="0" marL="0" rtl="0" algn="l">
              <a:lnSpc>
                <a:spcPct val="115000"/>
              </a:lnSpc>
              <a:spcBef>
                <a:spcPts val="1200"/>
              </a:spcBef>
              <a:spcAft>
                <a:spcPts val="0"/>
              </a:spcAft>
              <a:buNone/>
            </a:pPr>
            <a:r>
              <a:t/>
            </a:r>
            <a:endParaRPr b="1" sz="800">
              <a:solidFill>
                <a:schemeClr val="lt1"/>
              </a:solidFill>
            </a:endParaRPr>
          </a:p>
          <a:p>
            <a:pPr indent="0" lvl="0" marL="0" rtl="0" algn="l">
              <a:lnSpc>
                <a:spcPct val="115000"/>
              </a:lnSpc>
              <a:spcBef>
                <a:spcPts val="1200"/>
              </a:spcBef>
              <a:spcAft>
                <a:spcPts val="1200"/>
              </a:spcAft>
              <a:buNone/>
            </a:pPr>
            <a:r>
              <a:rPr b="1" lang="fr" sz="800">
                <a:solidFill>
                  <a:schemeClr val="lt1"/>
                </a:solidFill>
              </a:rPr>
              <a:t>Projet complet très intéressant car en entreprise je n’ai pas eu l’occasion  de mettre en place une architecture complète comme celle ci, ni de rentrer dans le détail des schéma de base de données. Je comprends mieux un collègue architecte dans ce domaine maintenant :-)</a:t>
            </a:r>
            <a:endParaRPr b="1" sz="800">
              <a:solidFill>
                <a:schemeClr val="lt1"/>
              </a:solidFill>
            </a:endParaRPr>
          </a:p>
        </p:txBody>
      </p:sp>
      <p:pic>
        <p:nvPicPr>
          <p:cNvPr id="218" name="Google Shape;218;p6"/>
          <p:cNvPicPr preferRelativeResize="0"/>
          <p:nvPr/>
        </p:nvPicPr>
        <p:blipFill rotWithShape="1">
          <a:blip r:embed="rId3">
            <a:alphaModFix/>
          </a:blip>
          <a:srcRect b="0" l="0" r="0" t="0"/>
          <a:stretch/>
        </p:blipFill>
        <p:spPr>
          <a:xfrm>
            <a:off x="0" y="0"/>
            <a:ext cx="576900" cy="39278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DBD0"/>
        </a:solidFill>
      </p:bgPr>
    </p:bg>
    <p:spTree>
      <p:nvGrpSpPr>
        <p:cNvPr id="222" name="Shape 222"/>
        <p:cNvGrpSpPr/>
        <p:nvPr/>
      </p:nvGrpSpPr>
      <p:grpSpPr>
        <a:xfrm>
          <a:off x="0" y="0"/>
          <a:ext cx="0" cy="0"/>
          <a:chOff x="0" y="0"/>
          <a:chExt cx="0" cy="0"/>
        </a:xfrm>
      </p:grpSpPr>
      <p:sp>
        <p:nvSpPr>
          <p:cNvPr id="223" name="Google Shape;223;p7"/>
          <p:cNvSpPr txBox="1"/>
          <p:nvPr>
            <p:ph idx="4294967295" type="ctrTitle"/>
          </p:nvPr>
        </p:nvSpPr>
        <p:spPr>
          <a:xfrm>
            <a:off x="1235600" y="1742168"/>
            <a:ext cx="5315100" cy="69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b="1" i="0" lang="fr" sz="5600" u="none" cap="none" strike="noStrike">
                <a:solidFill>
                  <a:srgbClr val="0E3449"/>
                </a:solidFill>
                <a:latin typeface="Inter"/>
                <a:ea typeface="Inter"/>
                <a:cs typeface="Inter"/>
                <a:sym typeface="Inter"/>
              </a:rPr>
              <a:t>Merci! </a:t>
            </a:r>
            <a:endParaRPr b="1" i="0" sz="5600" u="none" cap="none" strike="noStrike">
              <a:solidFill>
                <a:srgbClr val="0E3449"/>
              </a:solidFill>
              <a:latin typeface="Inter"/>
              <a:ea typeface="Inter"/>
              <a:cs typeface="Inter"/>
              <a:sym typeface="Inter"/>
            </a:endParaRPr>
          </a:p>
        </p:txBody>
      </p:sp>
      <p:pic>
        <p:nvPicPr>
          <p:cNvPr id="224" name="Google Shape;224;p7"/>
          <p:cNvPicPr preferRelativeResize="0"/>
          <p:nvPr/>
        </p:nvPicPr>
        <p:blipFill rotWithShape="1">
          <a:blip r:embed="rId3">
            <a:alphaModFix/>
          </a:blip>
          <a:srcRect b="0" l="0" r="0" t="0"/>
          <a:stretch/>
        </p:blipFill>
        <p:spPr>
          <a:xfrm>
            <a:off x="3918625" y="3006625"/>
            <a:ext cx="4599299" cy="2136876"/>
          </a:xfrm>
          <a:prstGeom prst="rect">
            <a:avLst/>
          </a:prstGeom>
          <a:noFill/>
          <a:ln>
            <a:noFill/>
          </a:ln>
        </p:spPr>
      </p:pic>
      <p:sp>
        <p:nvSpPr>
          <p:cNvPr id="225" name="Google Shape;225;p7"/>
          <p:cNvSpPr txBox="1"/>
          <p:nvPr>
            <p:ph idx="4294967295" type="ctrTitle"/>
          </p:nvPr>
        </p:nvSpPr>
        <p:spPr>
          <a:xfrm>
            <a:off x="1274779" y="2606050"/>
            <a:ext cx="7036200" cy="69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b="0" i="0" lang="fr" sz="2400" u="none" cap="none" strike="noStrike">
                <a:solidFill>
                  <a:srgbClr val="0E3449"/>
                </a:solidFill>
                <a:latin typeface="Inter Medium"/>
                <a:ea typeface="Inter Medium"/>
                <a:cs typeface="Inter Medium"/>
                <a:sym typeface="Inter Medium"/>
              </a:rPr>
              <a:t>A bientôt pour de nouvelles aventures…</a:t>
            </a:r>
            <a:endParaRPr b="0" i="0" sz="2400" u="none" cap="none" strike="noStrike">
              <a:solidFill>
                <a:srgbClr val="0E3449"/>
              </a:solidFill>
              <a:latin typeface="Inter Medium"/>
              <a:ea typeface="Inter Medium"/>
              <a:cs typeface="Inter Medium"/>
              <a:sym typeface="Inter Medium"/>
            </a:endParaRPr>
          </a:p>
        </p:txBody>
      </p:sp>
      <p:pic>
        <p:nvPicPr>
          <p:cNvPr id="226" name="Google Shape;226;p7"/>
          <p:cNvPicPr preferRelativeResize="0"/>
          <p:nvPr/>
        </p:nvPicPr>
        <p:blipFill rotWithShape="1">
          <a:blip r:embed="rId4">
            <a:alphaModFix/>
          </a:blip>
          <a:srcRect b="0" l="0" r="0" t="0"/>
          <a:stretch/>
        </p:blipFill>
        <p:spPr>
          <a:xfrm>
            <a:off x="463375" y="482852"/>
            <a:ext cx="576900" cy="38590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